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sldIdLst>
    <p:sldId id="256" r:id="rId5"/>
    <p:sldId id="560" r:id="rId6"/>
    <p:sldId id="561" r:id="rId7"/>
    <p:sldId id="562" r:id="rId8"/>
    <p:sldId id="564" r:id="rId9"/>
    <p:sldId id="565" r:id="rId10"/>
    <p:sldId id="566" r:id="rId11"/>
    <p:sldId id="567" r:id="rId12"/>
    <p:sldId id="5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4" userDrawn="1">
          <p15:clr>
            <a:srgbClr val="A4A3A4"/>
          </p15:clr>
        </p15:guide>
        <p15:guide id="2" pos="5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A9D18E"/>
    <a:srgbClr val="FFFFFF"/>
    <a:srgbClr val="4472C4"/>
    <a:srgbClr val="F2F2F2"/>
    <a:srgbClr val="99787B"/>
    <a:srgbClr val="ED7D31"/>
    <a:srgbClr val="9978C4"/>
    <a:srgbClr val="FFFF00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78"/>
      </p:cViewPr>
      <p:guideLst>
        <p:guide orient="horz" pos="3294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070C2-26A7-4E84-831E-BA7AAA37D24F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D39C6-D70A-4887-AF74-679D8B47FB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2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129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647D-DEBC-AC07-2342-D94A6F4B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D1ABEA-93F7-38B9-5A11-6C3FE4FBB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EE71CF-6CC8-C1C8-E5CD-B41E7B06D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BB1775-1B2E-4C9E-A375-AAE5FF52E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8794-D1F5-C74F-7FA7-718FC712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AE6D5A-E0EF-F538-1495-C39522AD2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6E75B4-E775-8D48-D00C-3DAF33F01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F2ED5-D7B1-42AE-B24C-9355241A6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05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2F2E-2116-B776-0DE4-2EC84E56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47A171-8922-7C64-3A35-E693FC227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460104-5BAD-4661-4535-85EBDE17C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1F01-9664-8E18-4171-44F5BDEB7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84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6ACF-D023-E1DD-34CD-98538A3F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930671-7865-E38C-2A99-C9BB88120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5D0F7F-E100-666B-0735-5AABE9EF1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63262-D8AA-61EC-0822-A61B407D3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917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5632-F662-65D0-AFBC-1137F57A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EC0869-C85F-C866-2917-E8D5583D1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572B37-DFDA-47D8-D151-DB7ACB2E4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A1EF0-43B1-72BB-BA15-F53E130C9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168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D3DF-76F4-228D-7618-1D9BF2E2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1C3524-E279-E546-514B-28D50EA57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366B24-279A-3EC4-D2BB-A9245B22D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0C736A-7115-F9D4-6284-04916BE37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0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C009-B0A3-2916-2976-E7DA7D2D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F40AF9-A671-A96F-9FA3-DDB74D7D9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63668F-2582-4284-7C4A-DB031F672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880ED1-6357-45E6-E60B-4CA1E84A5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51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49AF-DE28-20CB-218B-B1AAC3E4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45C779-675B-F616-5128-91D85A713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677B5A-8D7C-61E1-AF18-0E5F694E4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9A27F-AC73-9A02-E2C0-AFE370471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7D39C6-D70A-4887-AF74-679D8B47FB2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46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8C1C269-C3AE-CC9A-F331-12FE5FA2C9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6ECB0D1-7572-F9F9-43F9-AACA23058D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05" y="5867441"/>
            <a:ext cx="1294895" cy="834756"/>
          </a:xfrm>
          <a:prstGeom prst="rect">
            <a:avLst/>
          </a:prstGeom>
          <a:noFill/>
          <a:ln>
            <a:noFill/>
          </a:ln>
          <a:effectLst>
            <a:outerShdw blurRad="88900" dist="38100" dir="13620000" sx="200000" sy="200000" algn="r" rotWithShape="0">
              <a:schemeClr val="bg1">
                <a:alpha val="17000"/>
              </a:schemeClr>
            </a:outerShdw>
          </a:effec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177D580-B4C2-CF70-FBC3-9E5D779F56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466" y="5774351"/>
            <a:ext cx="539142" cy="5592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AF22476-95CE-A5C4-9E37-74DF2D126FFD}"/>
              </a:ext>
            </a:extLst>
          </p:cNvPr>
          <p:cNvSpPr txBox="1"/>
          <p:nvPr userDrawn="1"/>
        </p:nvSpPr>
        <p:spPr>
          <a:xfrm>
            <a:off x="3652608" y="5823154"/>
            <a:ext cx="590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2400">
              <a:solidFill>
                <a:srgbClr val="00206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7AA3E6-B29B-27A7-FCE8-9685A9FDDD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lvl="0" algn="ctr">
              <a:buSzPts val="5200"/>
            </a:pPr>
            <a:r>
              <a:rPr lang="en-US" altLang="ko-KR" sz="6000" b="1" i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AF4FE7-BEA7-A464-D76B-ED323BFE9D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4" name="부제목 2">
            <a:extLst>
              <a:ext uri="{FF2B5EF4-FFF2-40B4-BE49-F238E27FC236}">
                <a16:creationId xmlns:a16="http://schemas.microsoft.com/office/drawing/2014/main" id="{62E2B091-6AAE-44C6-7518-76C954DC834E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0470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36992"/>
            <a:ext cx="11380610" cy="180176"/>
            <a:chOff x="-880" y="953780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5898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3780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7DA0A-2DD6-2E1E-44FF-1B57D7E495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chemeClr val="accent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66E6AC-9BDC-9D1E-ED3F-2ECA7D0312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DAFAA3-169E-7657-2F6C-B0126D752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AB328-B285-0104-B2E1-69A3A157A10D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40343-BAB2-8C9E-8411-E0276C72A9C8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249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41003"/>
            <a:ext cx="11380610" cy="180176"/>
            <a:chOff x="-880" y="957791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9909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501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9A37FB-0E78-60DA-C27C-644446DCE053}"/>
              </a:ext>
            </a:extLst>
          </p:cNvPr>
          <p:cNvSpPr/>
          <p:nvPr userDrawn="1"/>
        </p:nvSpPr>
        <p:spPr>
          <a:xfrm>
            <a:off x="0" y="6596387"/>
            <a:ext cx="12192000" cy="261611"/>
          </a:xfrm>
          <a:prstGeom prst="rect">
            <a:avLst/>
          </a:prstGeom>
          <a:solidFill>
            <a:srgbClr val="94E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6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5679B6-E535-AC3B-FDF2-62249940FD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604582"/>
            <a:ext cx="223459" cy="231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84586-011D-586C-9E9F-810F6158E45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9DFA8-C917-F94C-9907-A9C5A6CF6656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238C32F-ECAF-D142-6157-026DB00F98D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1BA597C-A6BF-B69C-45D6-28DF036254F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76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41003"/>
            <a:ext cx="11380610" cy="180176"/>
            <a:chOff x="-880" y="957791"/>
            <a:chExt cx="11380610" cy="180176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9909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84586-011D-586C-9E9F-810F6158E45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9DFA8-C917-F94C-9907-A9C5A6CF6656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F5FCC46-7EDB-7544-8339-55999B2D3F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099971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37A23EFF-B37F-1539-B3A1-B139FE94FB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7" y="0"/>
            <a:ext cx="12192000" cy="6858000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E6E39CD-C195-E095-6BFF-0E0155F6A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882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D642427-A44E-CD16-D5FA-7416CED18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C730C12-E7E5-E837-CF06-AC8746DB1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C003B79-28FF-D9E8-AA84-F2EFE07C6C04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F3F22A-8B94-4456-7985-00FFC8B24B9E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24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8B83287-D13D-8FF3-8C82-1085F0778AF1}"/>
              </a:ext>
            </a:extLst>
          </p:cNvPr>
          <p:cNvGrpSpPr/>
          <p:nvPr userDrawn="1"/>
        </p:nvGrpSpPr>
        <p:grpSpPr>
          <a:xfrm>
            <a:off x="0" y="854658"/>
            <a:ext cx="11334890" cy="180177"/>
            <a:chOff x="-880" y="957791"/>
            <a:chExt cx="11334890" cy="180177"/>
          </a:xfrm>
        </p:grpSpPr>
        <p:sp>
          <p:nvSpPr>
            <p:cNvPr id="8" name="직사각형 3">
              <a:extLst>
                <a:ext uri="{FF2B5EF4-FFF2-40B4-BE49-F238E27FC236}">
                  <a16:creationId xmlns:a16="http://schemas.microsoft.com/office/drawing/2014/main" id="{942ABF6D-EB12-873C-05A8-6BA52344089D}"/>
                </a:ext>
              </a:extLst>
            </p:cNvPr>
            <p:cNvSpPr/>
            <p:nvPr/>
          </p:nvSpPr>
          <p:spPr>
            <a:xfrm flipV="1">
              <a:off x="91029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3">
              <a:extLst>
                <a:ext uri="{FF2B5EF4-FFF2-40B4-BE49-F238E27FC236}">
                  <a16:creationId xmlns:a16="http://schemas.microsoft.com/office/drawing/2014/main" id="{C747B971-CDA9-6B55-B606-586DFA7DD023}"/>
                </a:ext>
              </a:extLst>
            </p:cNvPr>
            <p:cNvSpPr/>
            <p:nvPr/>
          </p:nvSpPr>
          <p:spPr>
            <a:xfrm flipV="1">
              <a:off x="681686" y="959910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3">
              <a:extLst>
                <a:ext uri="{FF2B5EF4-FFF2-40B4-BE49-F238E27FC236}">
                  <a16:creationId xmlns:a16="http://schemas.microsoft.com/office/drawing/2014/main" id="{F65AD60C-8E9C-91D0-A040-01B26F54C30F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3">
              <a:extLst>
                <a:ext uri="{FF2B5EF4-FFF2-40B4-BE49-F238E27FC236}">
                  <a16:creationId xmlns:a16="http://schemas.microsoft.com/office/drawing/2014/main" id="{1CC296CA-8473-2589-E9C0-88E8D5EEFFA7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3">
              <a:extLst>
                <a:ext uri="{FF2B5EF4-FFF2-40B4-BE49-F238E27FC236}">
                  <a16:creationId xmlns:a16="http://schemas.microsoft.com/office/drawing/2014/main" id="{E01B9B7E-BFFA-0509-FCAE-79759755E300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A68E1DB-DAFB-93B6-4FFE-5E772276C9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71D467-B3B1-6D4D-B978-0C1801898629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33403-86E0-5AD4-1B89-D5BF2FBFB868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955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F70745-449A-6848-CC23-ACAE9005E803}"/>
              </a:ext>
            </a:extLst>
          </p:cNvPr>
          <p:cNvSpPr/>
          <p:nvPr userDrawn="1"/>
        </p:nvSpPr>
        <p:spPr>
          <a:xfrm>
            <a:off x="0" y="65963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B0E0A45-1800-0183-A290-0D24B09EF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604582"/>
            <a:ext cx="223459" cy="2318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E87933-CCD5-827D-85B8-A0AA0D309384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C8FB1F-8F4C-1C45-1472-A0D7509F72DB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628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8B83287-D13D-8FF3-8C82-1085F0778AF1}"/>
              </a:ext>
            </a:extLst>
          </p:cNvPr>
          <p:cNvGrpSpPr/>
          <p:nvPr userDrawn="1"/>
        </p:nvGrpSpPr>
        <p:grpSpPr>
          <a:xfrm>
            <a:off x="0" y="854658"/>
            <a:ext cx="11334890" cy="180177"/>
            <a:chOff x="-880" y="957791"/>
            <a:chExt cx="11334890" cy="180177"/>
          </a:xfrm>
        </p:grpSpPr>
        <p:sp>
          <p:nvSpPr>
            <p:cNvPr id="8" name="직사각형 3">
              <a:extLst>
                <a:ext uri="{FF2B5EF4-FFF2-40B4-BE49-F238E27FC236}">
                  <a16:creationId xmlns:a16="http://schemas.microsoft.com/office/drawing/2014/main" id="{942ABF6D-EB12-873C-05A8-6BA52344089D}"/>
                </a:ext>
              </a:extLst>
            </p:cNvPr>
            <p:cNvSpPr/>
            <p:nvPr/>
          </p:nvSpPr>
          <p:spPr>
            <a:xfrm flipV="1">
              <a:off x="91029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3">
              <a:extLst>
                <a:ext uri="{FF2B5EF4-FFF2-40B4-BE49-F238E27FC236}">
                  <a16:creationId xmlns:a16="http://schemas.microsoft.com/office/drawing/2014/main" id="{C747B971-CDA9-6B55-B606-586DFA7DD023}"/>
                </a:ext>
              </a:extLst>
            </p:cNvPr>
            <p:cNvSpPr/>
            <p:nvPr/>
          </p:nvSpPr>
          <p:spPr>
            <a:xfrm flipV="1">
              <a:off x="681686" y="959910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3">
              <a:extLst>
                <a:ext uri="{FF2B5EF4-FFF2-40B4-BE49-F238E27FC236}">
                  <a16:creationId xmlns:a16="http://schemas.microsoft.com/office/drawing/2014/main" id="{F65AD60C-8E9C-91D0-A040-01B26F54C30F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3">
              <a:extLst>
                <a:ext uri="{FF2B5EF4-FFF2-40B4-BE49-F238E27FC236}">
                  <a16:creationId xmlns:a16="http://schemas.microsoft.com/office/drawing/2014/main" id="{1CC296CA-8473-2589-E9C0-88E8D5EEFFA7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3">
              <a:extLst>
                <a:ext uri="{FF2B5EF4-FFF2-40B4-BE49-F238E27FC236}">
                  <a16:creationId xmlns:a16="http://schemas.microsoft.com/office/drawing/2014/main" id="{E01B9B7E-BFFA-0509-FCAE-79759755E300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56231-539D-3814-868E-9AB5725E3F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4C15691-B860-E8C4-FDF2-76A7A360413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6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원형: 비어 있음 27">
            <a:extLst>
              <a:ext uri="{FF2B5EF4-FFF2-40B4-BE49-F238E27FC236}">
                <a16:creationId xmlns:a16="http://schemas.microsoft.com/office/drawing/2014/main" id="{5BF90DF1-5EFF-DA96-22C1-DF0DFFE1285F}"/>
              </a:ext>
            </a:extLst>
          </p:cNvPr>
          <p:cNvSpPr/>
          <p:nvPr userDrawn="1"/>
        </p:nvSpPr>
        <p:spPr>
          <a:xfrm>
            <a:off x="-733593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1C1BCB-408D-1C04-44E3-C9E3E859937A}"/>
              </a:ext>
            </a:extLst>
          </p:cNvPr>
          <p:cNvSpPr/>
          <p:nvPr userDrawn="1"/>
        </p:nvSpPr>
        <p:spPr>
          <a:xfrm rot="20946277" flipH="1">
            <a:off x="204489" y="-2287061"/>
            <a:ext cx="12187009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1000"/>
                </a:schemeClr>
              </a:gs>
              <a:gs pos="100000">
                <a:schemeClr val="accent5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005DA5-706C-E067-93B3-1A6654FD9EC4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2FFADF-3F68-0E4F-C4C4-50339FF357E9}"/>
              </a:ext>
            </a:extLst>
          </p:cNvPr>
          <p:cNvGrpSpPr/>
          <p:nvPr userDrawn="1"/>
        </p:nvGrpSpPr>
        <p:grpSpPr>
          <a:xfrm>
            <a:off x="0" y="835099"/>
            <a:ext cx="11380610" cy="182069"/>
            <a:chOff x="-880" y="951887"/>
            <a:chExt cx="11380610" cy="182069"/>
          </a:xfrm>
        </p:grpSpPr>
        <p:sp>
          <p:nvSpPr>
            <p:cNvPr id="22" name="직사각형 3">
              <a:extLst>
                <a:ext uri="{FF2B5EF4-FFF2-40B4-BE49-F238E27FC236}">
                  <a16:creationId xmlns:a16="http://schemas.microsoft.com/office/drawing/2014/main" id="{FF7EF95B-F4A1-AD41-788F-D75423EB7A1F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3">
              <a:extLst>
                <a:ext uri="{FF2B5EF4-FFF2-40B4-BE49-F238E27FC236}">
                  <a16:creationId xmlns:a16="http://schemas.microsoft.com/office/drawing/2014/main" id="{3E5CEC0F-FF83-4603-E510-78DDD3845471}"/>
                </a:ext>
              </a:extLst>
            </p:cNvPr>
            <p:cNvSpPr/>
            <p:nvPr/>
          </p:nvSpPr>
          <p:spPr>
            <a:xfrm flipV="1">
              <a:off x="721216" y="951887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3">
              <a:extLst>
                <a:ext uri="{FF2B5EF4-FFF2-40B4-BE49-F238E27FC236}">
                  <a16:creationId xmlns:a16="http://schemas.microsoft.com/office/drawing/2014/main" id="{33F3EF83-29B2-DCAD-C031-70CDE6E0399A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3">
              <a:extLst>
                <a:ext uri="{FF2B5EF4-FFF2-40B4-BE49-F238E27FC236}">
                  <a16:creationId xmlns:a16="http://schemas.microsoft.com/office/drawing/2014/main" id="{13FE388B-6404-1E39-31B5-AA6946A93CD6}"/>
                </a:ext>
              </a:extLst>
            </p:cNvPr>
            <p:cNvSpPr/>
            <p:nvPr/>
          </p:nvSpPr>
          <p:spPr>
            <a:xfrm flipV="1">
              <a:off x="191664" y="953780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3">
              <a:extLst>
                <a:ext uri="{FF2B5EF4-FFF2-40B4-BE49-F238E27FC236}">
                  <a16:creationId xmlns:a16="http://schemas.microsoft.com/office/drawing/2014/main" id="{8CBE7878-1233-672B-BF62-280602094EA3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4ADEA4-F613-9D71-B866-2F8B8AAC8C4F}"/>
              </a:ext>
            </a:extLst>
          </p:cNvPr>
          <p:cNvSpPr/>
          <p:nvPr userDrawn="1"/>
        </p:nvSpPr>
        <p:spPr>
          <a:xfrm>
            <a:off x="8607" y="5274"/>
            <a:ext cx="6711507" cy="853646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F798044-1AB9-7CF1-6E1F-6936A8029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755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3AC45-9D95-4CA6-E91A-2E34258E1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43959C-E1B0-7A05-A888-02F6356223E5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8B644B-B292-695D-9DF2-8CF14E5D958F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7DA0A-2DD6-2E1E-44FF-1B57D7E495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01152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4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C316C2-55A2-743D-AD91-14F426A5663F}"/>
              </a:ext>
            </a:extLst>
          </p:cNvPr>
          <p:cNvSpPr/>
          <p:nvPr userDrawn="1"/>
        </p:nvSpPr>
        <p:spPr>
          <a:xfrm rot="20946277" flipH="1">
            <a:off x="204489" y="-2287061"/>
            <a:ext cx="12187009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51000"/>
                </a:schemeClr>
              </a:gs>
              <a:gs pos="100000">
                <a:schemeClr val="accent5">
                  <a:lumMod val="20000"/>
                  <a:lumOff val="8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4" name="원형: 비어 있음 3">
            <a:extLst>
              <a:ext uri="{FF2B5EF4-FFF2-40B4-BE49-F238E27FC236}">
                <a16:creationId xmlns:a16="http://schemas.microsoft.com/office/drawing/2014/main" id="{4C210AF4-AA5F-981E-A974-C67A41EAF145}"/>
              </a:ext>
            </a:extLst>
          </p:cNvPr>
          <p:cNvSpPr/>
          <p:nvPr userDrawn="1"/>
        </p:nvSpPr>
        <p:spPr>
          <a:xfrm>
            <a:off x="-733593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950BA5-A502-E193-C0AF-F247822F8438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9FE1AC-9B48-B393-8D33-0F0637F46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40" y="108709"/>
            <a:ext cx="997430" cy="642995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8B83287-D13D-8FF3-8C82-1085F0778AF1}"/>
              </a:ext>
            </a:extLst>
          </p:cNvPr>
          <p:cNvGrpSpPr/>
          <p:nvPr userDrawn="1"/>
        </p:nvGrpSpPr>
        <p:grpSpPr>
          <a:xfrm>
            <a:off x="0" y="854658"/>
            <a:ext cx="11334890" cy="180177"/>
            <a:chOff x="-880" y="957791"/>
            <a:chExt cx="11334890" cy="180177"/>
          </a:xfrm>
        </p:grpSpPr>
        <p:sp>
          <p:nvSpPr>
            <p:cNvPr id="8" name="직사각형 3">
              <a:extLst>
                <a:ext uri="{FF2B5EF4-FFF2-40B4-BE49-F238E27FC236}">
                  <a16:creationId xmlns:a16="http://schemas.microsoft.com/office/drawing/2014/main" id="{942ABF6D-EB12-873C-05A8-6BA52344089D}"/>
                </a:ext>
              </a:extLst>
            </p:cNvPr>
            <p:cNvSpPr/>
            <p:nvPr/>
          </p:nvSpPr>
          <p:spPr>
            <a:xfrm flipV="1">
              <a:off x="91029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3">
              <a:extLst>
                <a:ext uri="{FF2B5EF4-FFF2-40B4-BE49-F238E27FC236}">
                  <a16:creationId xmlns:a16="http://schemas.microsoft.com/office/drawing/2014/main" id="{C747B971-CDA9-6B55-B606-586DFA7DD023}"/>
                </a:ext>
              </a:extLst>
            </p:cNvPr>
            <p:cNvSpPr/>
            <p:nvPr/>
          </p:nvSpPr>
          <p:spPr>
            <a:xfrm flipV="1">
              <a:off x="681686" y="959910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3">
              <a:extLst>
                <a:ext uri="{FF2B5EF4-FFF2-40B4-BE49-F238E27FC236}">
                  <a16:creationId xmlns:a16="http://schemas.microsoft.com/office/drawing/2014/main" id="{F65AD60C-8E9C-91D0-A040-01B26F54C30F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3">
              <a:extLst>
                <a:ext uri="{FF2B5EF4-FFF2-40B4-BE49-F238E27FC236}">
                  <a16:creationId xmlns:a16="http://schemas.microsoft.com/office/drawing/2014/main" id="{1CC296CA-8473-2589-E9C0-88E8D5EEFFA7}"/>
                </a:ext>
              </a:extLst>
            </p:cNvPr>
            <p:cNvSpPr/>
            <p:nvPr/>
          </p:nvSpPr>
          <p:spPr>
            <a:xfrm flipV="1">
              <a:off x="191664" y="957791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3">
              <a:extLst>
                <a:ext uri="{FF2B5EF4-FFF2-40B4-BE49-F238E27FC236}">
                  <a16:creationId xmlns:a16="http://schemas.microsoft.com/office/drawing/2014/main" id="{E01B9B7E-BFFA-0509-FCAE-79759755E300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A68E1DB-DAFB-93B6-4FFE-5E772276C9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71D467-B3B1-6D4D-B978-0C1801898629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33403-86E0-5AD4-1B89-D5BF2FBFB868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19F-8706-0AF8-797C-81A981924D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 b="1">
                <a:solidFill>
                  <a:srgbClr val="002060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 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8717649-9A27-4B4F-A411-5B7CCB98A812}"/>
              </a:ext>
            </a:extLst>
          </p:cNvPr>
          <p:cNvSpPr/>
          <p:nvPr userDrawn="1"/>
        </p:nvSpPr>
        <p:spPr>
          <a:xfrm>
            <a:off x="8607" y="0"/>
            <a:ext cx="6711507" cy="867695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E6E39CD-C195-E095-6BFF-0E0155F6A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660" y="188274"/>
            <a:ext cx="10515600" cy="81703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altLang="ko-KR" sz="4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52584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11F39ABE-D3E9-DAB7-EA9E-AABDBB0BF1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F2C8D28-9B3F-403A-DF37-E4D2709DF1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607" y="106319"/>
            <a:ext cx="1142848" cy="7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83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3">
            <a:extLst>
              <a:ext uri="{FF2B5EF4-FFF2-40B4-BE49-F238E27FC236}">
                <a16:creationId xmlns:a16="http://schemas.microsoft.com/office/drawing/2014/main" id="{9D472C58-E418-BC2C-BB03-A3A475EBD98C}"/>
              </a:ext>
            </a:extLst>
          </p:cNvPr>
          <p:cNvSpPr/>
          <p:nvPr userDrawn="1"/>
        </p:nvSpPr>
        <p:spPr>
          <a:xfrm flipV="1">
            <a:off x="882571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94EEE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3">
            <a:extLst>
              <a:ext uri="{FF2B5EF4-FFF2-40B4-BE49-F238E27FC236}">
                <a16:creationId xmlns:a16="http://schemas.microsoft.com/office/drawing/2014/main" id="{763B2CBD-2D2C-07EE-5160-D3902C792CD5}"/>
              </a:ext>
            </a:extLst>
          </p:cNvPr>
          <p:cNvSpPr/>
          <p:nvPr userDrawn="1"/>
        </p:nvSpPr>
        <p:spPr>
          <a:xfrm flipV="1">
            <a:off x="661139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3">
            <a:extLst>
              <a:ext uri="{FF2B5EF4-FFF2-40B4-BE49-F238E27FC236}">
                <a16:creationId xmlns:a16="http://schemas.microsoft.com/office/drawing/2014/main" id="{5BCB3B48-697D-0173-F359-D15CE8B1B4DD}"/>
              </a:ext>
            </a:extLst>
          </p:cNvPr>
          <p:cNvSpPr/>
          <p:nvPr userDrawn="1"/>
        </p:nvSpPr>
        <p:spPr>
          <a:xfrm flipV="1">
            <a:off x="510828" y="1083543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3">
            <a:extLst>
              <a:ext uri="{FF2B5EF4-FFF2-40B4-BE49-F238E27FC236}">
                <a16:creationId xmlns:a16="http://schemas.microsoft.com/office/drawing/2014/main" id="{94188DD2-0D9F-8F64-5095-6F69CFF521B8}"/>
              </a:ext>
            </a:extLst>
          </p:cNvPr>
          <p:cNvSpPr/>
          <p:nvPr userDrawn="1"/>
        </p:nvSpPr>
        <p:spPr>
          <a:xfrm flipV="1">
            <a:off x="186500" y="1067030"/>
            <a:ext cx="10096500" cy="229591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3">
            <a:extLst>
              <a:ext uri="{FF2B5EF4-FFF2-40B4-BE49-F238E27FC236}">
                <a16:creationId xmlns:a16="http://schemas.microsoft.com/office/drawing/2014/main" id="{0B77F0F5-9D1A-9C77-7223-AE663EC33FE0}"/>
              </a:ext>
            </a:extLst>
          </p:cNvPr>
          <p:cNvSpPr/>
          <p:nvPr userDrawn="1"/>
        </p:nvSpPr>
        <p:spPr>
          <a:xfrm flipV="1">
            <a:off x="0" y="1088252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895D566-C40F-E30B-0F97-9BB821AF8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EAE8FE-0ACA-2C4E-647E-96BE9B555DA6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66593-B385-53D4-E55A-A0DCAE9B5A3A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5B9CF9C-8BE6-3D5C-8613-09A7CAE799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69" y="120511"/>
            <a:ext cx="1213567" cy="7823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219D9E-D308-52C9-4147-D73AEBB04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C0633E-0B40-4ACF-2D37-32BD86C6C27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F4E230-4F4D-291E-A7A7-0399553A9BE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56FE5C-FA32-2066-485C-00C4D25D0D47}"/>
              </a:ext>
            </a:extLst>
          </p:cNvPr>
          <p:cNvSpPr/>
          <p:nvPr userDrawn="1"/>
        </p:nvSpPr>
        <p:spPr>
          <a:xfrm>
            <a:off x="0" y="0"/>
            <a:ext cx="8627393" cy="1083543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8BCB8EB-12CD-7C29-5E6D-75D592E010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37" y="1289918"/>
            <a:ext cx="4552730" cy="556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98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555E49-86A0-D92F-6AAE-04FE26D52F6A}"/>
              </a:ext>
            </a:extLst>
          </p:cNvPr>
          <p:cNvSpPr/>
          <p:nvPr userDrawn="1"/>
        </p:nvSpPr>
        <p:spPr>
          <a:xfrm>
            <a:off x="-7061712" y="-1153088"/>
            <a:ext cx="11597021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92360-7CC9-89AA-2C67-FA4D29BF4290}"/>
              </a:ext>
            </a:extLst>
          </p:cNvPr>
          <p:cNvSpPr/>
          <p:nvPr userDrawn="1"/>
        </p:nvSpPr>
        <p:spPr>
          <a:xfrm rot="20946277" flipH="1">
            <a:off x="329463" y="-1003149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7F10DF50-E743-9832-7281-8C3EC005F745}"/>
              </a:ext>
            </a:extLst>
          </p:cNvPr>
          <p:cNvSpPr/>
          <p:nvPr userDrawn="1"/>
        </p:nvSpPr>
        <p:spPr>
          <a:xfrm>
            <a:off x="-748107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43B5-DB35-D710-F82A-41F5CA908D67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9FF1A24-8095-36D1-9AE0-0AAE0580A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B23269-3E4E-FD36-1202-BA3442A0CF0E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A9889-5893-A09E-19D1-1A75F93021CD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1B7007-3760-F2A0-D31A-1679D760B2BE}"/>
              </a:ext>
            </a:extLst>
          </p:cNvPr>
          <p:cNvGrpSpPr/>
          <p:nvPr userDrawn="1"/>
        </p:nvGrpSpPr>
        <p:grpSpPr>
          <a:xfrm>
            <a:off x="-165100" y="915211"/>
            <a:ext cx="11380610" cy="180176"/>
            <a:chOff x="-880" y="953779"/>
            <a:chExt cx="11380610" cy="180177"/>
          </a:xfrm>
        </p:grpSpPr>
        <p:sp>
          <p:nvSpPr>
            <p:cNvPr id="3" name="직사각형 3">
              <a:extLst>
                <a:ext uri="{FF2B5EF4-FFF2-40B4-BE49-F238E27FC236}">
                  <a16:creationId xmlns:a16="http://schemas.microsoft.com/office/drawing/2014/main" id="{55FB9585-A95B-B3CA-54EB-A17A1E07CEFC}"/>
                </a:ext>
              </a:extLst>
            </p:cNvPr>
            <p:cNvSpPr/>
            <p:nvPr/>
          </p:nvSpPr>
          <p:spPr>
            <a:xfrm flipV="1">
              <a:off x="956014" y="97265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948AB14-7EA7-1CA6-4C68-EAD93D56C3CD}"/>
                </a:ext>
              </a:extLst>
            </p:cNvPr>
            <p:cNvSpPr/>
            <p:nvPr/>
          </p:nvSpPr>
          <p:spPr>
            <a:xfrm flipV="1">
              <a:off x="721216" y="955898"/>
              <a:ext cx="10423716" cy="178058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3">
              <a:extLst>
                <a:ext uri="{FF2B5EF4-FFF2-40B4-BE49-F238E27FC236}">
                  <a16:creationId xmlns:a16="http://schemas.microsoft.com/office/drawing/2014/main" id="{116CD5CC-9B52-D3EE-CB91-50097F64D8F6}"/>
                </a:ext>
              </a:extLst>
            </p:cNvPr>
            <p:cNvSpPr/>
            <p:nvPr/>
          </p:nvSpPr>
          <p:spPr>
            <a:xfrm flipV="1">
              <a:off x="526503" y="974275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3">
              <a:extLst>
                <a:ext uri="{FF2B5EF4-FFF2-40B4-BE49-F238E27FC236}">
                  <a16:creationId xmlns:a16="http://schemas.microsoft.com/office/drawing/2014/main" id="{1A716281-53B9-986E-38EE-419F4FA40AC3}"/>
                </a:ext>
              </a:extLst>
            </p:cNvPr>
            <p:cNvSpPr/>
            <p:nvPr/>
          </p:nvSpPr>
          <p:spPr>
            <a:xfrm flipV="1">
              <a:off x="191664" y="953779"/>
              <a:ext cx="10423716" cy="180176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3">
              <a:extLst>
                <a:ext uri="{FF2B5EF4-FFF2-40B4-BE49-F238E27FC236}">
                  <a16:creationId xmlns:a16="http://schemas.microsoft.com/office/drawing/2014/main" id="{152532BF-89DC-D3FF-7781-3EED27C91FE4}"/>
                </a:ext>
              </a:extLst>
            </p:cNvPr>
            <p:cNvSpPr/>
            <p:nvPr/>
          </p:nvSpPr>
          <p:spPr>
            <a:xfrm flipV="1">
              <a:off x="-880" y="976102"/>
              <a:ext cx="10423716" cy="156845"/>
            </a:xfrm>
            <a:custGeom>
              <a:avLst/>
              <a:gdLst>
                <a:gd name="connsiteX0" fmla="*/ 0 w 9601200"/>
                <a:gd name="connsiteY0" fmla="*/ 0 h 180975"/>
                <a:gd name="connsiteX1" fmla="*/ 9601200 w 9601200"/>
                <a:gd name="connsiteY1" fmla="*/ 0 h 180975"/>
                <a:gd name="connsiteX2" fmla="*/ 9601200 w 9601200"/>
                <a:gd name="connsiteY2" fmla="*/ 180975 h 180975"/>
                <a:gd name="connsiteX3" fmla="*/ 0 w 9601200"/>
                <a:gd name="connsiteY3" fmla="*/ 180975 h 180975"/>
                <a:gd name="connsiteX4" fmla="*/ 0 w 9601200"/>
                <a:gd name="connsiteY4" fmla="*/ 0 h 180975"/>
                <a:gd name="connsiteX0" fmla="*/ 0 w 10109200"/>
                <a:gd name="connsiteY0" fmla="*/ 0 h 180975"/>
                <a:gd name="connsiteX1" fmla="*/ 9601200 w 10109200"/>
                <a:gd name="connsiteY1" fmla="*/ 0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9753792 w 10109200"/>
                <a:gd name="connsiteY1" fmla="*/ 22274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  <a:gd name="connsiteX0" fmla="*/ 0 w 10109200"/>
                <a:gd name="connsiteY0" fmla="*/ 0 h 180975"/>
                <a:gd name="connsiteX1" fmla="*/ 10008111 w 10109200"/>
                <a:gd name="connsiteY1" fmla="*/ 16705 h 180975"/>
                <a:gd name="connsiteX2" fmla="*/ 10109200 w 10109200"/>
                <a:gd name="connsiteY2" fmla="*/ 180975 h 180975"/>
                <a:gd name="connsiteX3" fmla="*/ 0 w 10109200"/>
                <a:gd name="connsiteY3" fmla="*/ 180975 h 180975"/>
                <a:gd name="connsiteX4" fmla="*/ 0 w 10109200"/>
                <a:gd name="connsiteY4" fmla="*/ 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9200" h="180975">
                  <a:moveTo>
                    <a:pt x="0" y="0"/>
                  </a:moveTo>
                  <a:lnTo>
                    <a:pt x="10008111" y="16705"/>
                  </a:lnTo>
                  <a:lnTo>
                    <a:pt x="10109200" y="180975"/>
                  </a:lnTo>
                  <a:lnTo>
                    <a:pt x="0" y="180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EEE9"/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FDD207-B5F2-FA2C-2CB5-6BA6AE1CE3B2}"/>
              </a:ext>
            </a:extLst>
          </p:cNvPr>
          <p:cNvSpPr/>
          <p:nvPr userDrawn="1"/>
        </p:nvSpPr>
        <p:spPr>
          <a:xfrm>
            <a:off x="8606" y="-262135"/>
            <a:ext cx="8627393" cy="1198662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58B468-BF4F-4010-8096-EEBC10F956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607" y="106319"/>
            <a:ext cx="1142848" cy="7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18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1] 간지2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555E49-86A0-D92F-6AAE-04FE26D52F6A}"/>
              </a:ext>
            </a:extLst>
          </p:cNvPr>
          <p:cNvSpPr/>
          <p:nvPr userDrawn="1"/>
        </p:nvSpPr>
        <p:spPr>
          <a:xfrm>
            <a:off x="-7061712" y="-1153088"/>
            <a:ext cx="11597021" cy="805153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A92360-7CC9-89AA-2C67-FA4D29BF4290}"/>
              </a:ext>
            </a:extLst>
          </p:cNvPr>
          <p:cNvSpPr/>
          <p:nvPr userDrawn="1"/>
        </p:nvSpPr>
        <p:spPr>
          <a:xfrm rot="20946277" flipH="1">
            <a:off x="329463" y="-1003149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7F10DF50-E743-9832-7281-8C3EC005F745}"/>
              </a:ext>
            </a:extLst>
          </p:cNvPr>
          <p:cNvSpPr/>
          <p:nvPr userDrawn="1"/>
        </p:nvSpPr>
        <p:spPr>
          <a:xfrm>
            <a:off x="-748107" y="4658317"/>
            <a:ext cx="4399365" cy="4399365"/>
          </a:xfrm>
          <a:prstGeom prst="donut">
            <a:avLst>
              <a:gd name="adj" fmla="val 16939"/>
            </a:avLst>
          </a:prstGeom>
          <a:solidFill>
            <a:srgbClr val="94EEE9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id="{93F4E4B7-8B75-A8B2-3D35-57EA566E4F05}"/>
              </a:ext>
            </a:extLst>
          </p:cNvPr>
          <p:cNvSpPr/>
          <p:nvPr userDrawn="1"/>
        </p:nvSpPr>
        <p:spPr>
          <a:xfrm flipV="1">
            <a:off x="882571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94EEE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3">
            <a:extLst>
              <a:ext uri="{FF2B5EF4-FFF2-40B4-BE49-F238E27FC236}">
                <a16:creationId xmlns:a16="http://schemas.microsoft.com/office/drawing/2014/main" id="{EE24BC96-E017-9C80-67B8-995DF8E9BE8A}"/>
              </a:ext>
            </a:extLst>
          </p:cNvPr>
          <p:cNvSpPr/>
          <p:nvPr userDrawn="1"/>
        </p:nvSpPr>
        <p:spPr>
          <a:xfrm flipV="1">
            <a:off x="661139" y="1087001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3">
            <a:extLst>
              <a:ext uri="{FF2B5EF4-FFF2-40B4-BE49-F238E27FC236}">
                <a16:creationId xmlns:a16="http://schemas.microsoft.com/office/drawing/2014/main" id="{43C7713A-91A3-19EA-2846-37F883173141}"/>
              </a:ext>
            </a:extLst>
          </p:cNvPr>
          <p:cNvSpPr/>
          <p:nvPr userDrawn="1"/>
        </p:nvSpPr>
        <p:spPr>
          <a:xfrm flipV="1">
            <a:off x="510828" y="1083543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F943B5-DB35-D710-F82A-41F5CA908D67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7" name="직사각형 3">
            <a:extLst>
              <a:ext uri="{FF2B5EF4-FFF2-40B4-BE49-F238E27FC236}">
                <a16:creationId xmlns:a16="http://schemas.microsoft.com/office/drawing/2014/main" id="{79D174CD-06E4-43AF-738F-C2E0AA222E3F}"/>
              </a:ext>
            </a:extLst>
          </p:cNvPr>
          <p:cNvSpPr/>
          <p:nvPr userDrawn="1"/>
        </p:nvSpPr>
        <p:spPr>
          <a:xfrm flipV="1">
            <a:off x="186500" y="1067030"/>
            <a:ext cx="10096500" cy="229591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FDD207-B5F2-FA2C-2CB5-6BA6AE1CE3B2}"/>
              </a:ext>
            </a:extLst>
          </p:cNvPr>
          <p:cNvSpPr/>
          <p:nvPr userDrawn="1"/>
        </p:nvSpPr>
        <p:spPr>
          <a:xfrm>
            <a:off x="8606" y="-262136"/>
            <a:ext cx="8627393" cy="1357523"/>
          </a:xfrm>
          <a:prstGeom prst="rect">
            <a:avLst/>
          </a:prstGeom>
          <a:gradFill>
            <a:gsLst>
              <a:gs pos="66000">
                <a:srgbClr val="FBFCFE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FFFFFF">
                  <a:alpha val="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3">
            <a:extLst>
              <a:ext uri="{FF2B5EF4-FFF2-40B4-BE49-F238E27FC236}">
                <a16:creationId xmlns:a16="http://schemas.microsoft.com/office/drawing/2014/main" id="{C956F1A1-8776-64C6-0A61-3C072DDBD0AF}"/>
              </a:ext>
            </a:extLst>
          </p:cNvPr>
          <p:cNvSpPr/>
          <p:nvPr userDrawn="1"/>
        </p:nvSpPr>
        <p:spPr>
          <a:xfrm flipV="1">
            <a:off x="0" y="1088252"/>
            <a:ext cx="10096500" cy="206376"/>
          </a:xfrm>
          <a:custGeom>
            <a:avLst/>
            <a:gdLst>
              <a:gd name="connsiteX0" fmla="*/ 0 w 9601200"/>
              <a:gd name="connsiteY0" fmla="*/ 0 h 180975"/>
              <a:gd name="connsiteX1" fmla="*/ 9601200 w 9601200"/>
              <a:gd name="connsiteY1" fmla="*/ 0 h 180975"/>
              <a:gd name="connsiteX2" fmla="*/ 9601200 w 9601200"/>
              <a:gd name="connsiteY2" fmla="*/ 180975 h 180975"/>
              <a:gd name="connsiteX3" fmla="*/ 0 w 9601200"/>
              <a:gd name="connsiteY3" fmla="*/ 180975 h 180975"/>
              <a:gd name="connsiteX4" fmla="*/ 0 w 9601200"/>
              <a:gd name="connsiteY4" fmla="*/ 0 h 180975"/>
              <a:gd name="connsiteX0" fmla="*/ 0 w 10109200"/>
              <a:gd name="connsiteY0" fmla="*/ 0 h 180975"/>
              <a:gd name="connsiteX1" fmla="*/ 9601200 w 10109200"/>
              <a:gd name="connsiteY1" fmla="*/ 0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9753792 w 10109200"/>
              <a:gd name="connsiteY1" fmla="*/ 22274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  <a:gd name="connsiteX0" fmla="*/ 0 w 10109200"/>
              <a:gd name="connsiteY0" fmla="*/ 0 h 180975"/>
              <a:gd name="connsiteX1" fmla="*/ 10008111 w 10109200"/>
              <a:gd name="connsiteY1" fmla="*/ 16705 h 180975"/>
              <a:gd name="connsiteX2" fmla="*/ 10109200 w 10109200"/>
              <a:gd name="connsiteY2" fmla="*/ 180975 h 180975"/>
              <a:gd name="connsiteX3" fmla="*/ 0 w 10109200"/>
              <a:gd name="connsiteY3" fmla="*/ 180975 h 180975"/>
              <a:gd name="connsiteX4" fmla="*/ 0 w 10109200"/>
              <a:gd name="connsiteY4" fmla="*/ 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9200" h="180975">
                <a:moveTo>
                  <a:pt x="0" y="0"/>
                </a:moveTo>
                <a:lnTo>
                  <a:pt x="10008111" y="16705"/>
                </a:lnTo>
                <a:lnTo>
                  <a:pt x="10109200" y="180975"/>
                </a:lnTo>
                <a:lnTo>
                  <a:pt x="0" y="180975"/>
                </a:lnTo>
                <a:lnTo>
                  <a:pt x="0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9FF1A24-8095-36D1-9AE0-0AAE0580A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115" y="6596115"/>
            <a:ext cx="223459" cy="23180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3B23269-3E4E-FD36-1202-BA3442A0CF0E}"/>
              </a:ext>
            </a:extLst>
          </p:cNvPr>
          <p:cNvSpPr txBox="1"/>
          <p:nvPr userDrawn="1"/>
        </p:nvSpPr>
        <p:spPr>
          <a:xfrm>
            <a:off x="11763375" y="653023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rgbClr val="002060"/>
                </a:solidFill>
              </a:rPr>
              <a:t>‹#›</a:t>
            </a:fld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A9889-5893-A09E-19D1-1A75F93021CD}"/>
              </a:ext>
            </a:extLst>
          </p:cNvPr>
          <p:cNvSpPr txBox="1"/>
          <p:nvPr userDrawn="1"/>
        </p:nvSpPr>
        <p:spPr>
          <a:xfrm>
            <a:off x="9027581" y="65840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354FFD-9EAB-31F9-E450-04E58D66F0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69" y="120511"/>
            <a:ext cx="1213567" cy="782328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32A04BF-1997-1193-9269-3181E66D1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80717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7B4145F2-41DF-B8E7-9FDA-473A8D89E6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76291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내용 개체 틀 5">
            <a:extLst>
              <a:ext uri="{FF2B5EF4-FFF2-40B4-BE49-F238E27FC236}">
                <a16:creationId xmlns:a16="http://schemas.microsoft.com/office/drawing/2014/main" id="{476B0213-148C-673C-7EF8-9181C8009C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43888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477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E8F9B-FD0D-F59C-AC44-0A1DBEB232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99" y="0"/>
            <a:ext cx="12179301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D7053E-90CA-340A-90C4-A4C5E3FB63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739" y="5960282"/>
            <a:ext cx="1158261" cy="746675"/>
          </a:xfrm>
          <a:prstGeom prst="rect">
            <a:avLst/>
          </a:prstGeom>
          <a:noFill/>
          <a:ln>
            <a:noFill/>
          </a:ln>
          <a:effectLst>
            <a:outerShdw blurRad="88900" dist="38100" dir="13620000" sx="200000" sy="200000" algn="r" rotWithShape="0">
              <a:schemeClr val="bg1">
                <a:alpha val="17000"/>
              </a:scheme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61FD65-9E00-A330-2D09-0D7F5A4639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466" y="5774351"/>
            <a:ext cx="539142" cy="559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B1D1C7-78DF-C550-1A6A-D37DA218685D}"/>
              </a:ext>
            </a:extLst>
          </p:cNvPr>
          <p:cNvSpPr txBox="1"/>
          <p:nvPr userDrawn="1"/>
        </p:nvSpPr>
        <p:spPr>
          <a:xfrm>
            <a:off x="3652608" y="5823154"/>
            <a:ext cx="590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2400">
              <a:solidFill>
                <a:srgbClr val="00206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1CCF1F5D-BE1F-F390-4015-01FDBB808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4465" y="1668621"/>
            <a:ext cx="10107827" cy="128374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lvl="0" algn="ctr">
              <a:buSzPts val="5200"/>
            </a:pPr>
            <a:r>
              <a:rPr lang="en-US" altLang="ko-KR" sz="6000" b="1" i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ko-KR" altLang="en-US" sz="6000" b="1" i="1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입력하세요</a:t>
            </a:r>
            <a:endParaRPr lang="en-US" altLang="ko-KR" sz="6000" b="1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0E93D1F5-B361-EE8B-5298-100110527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5380"/>
            <a:ext cx="9144000" cy="20134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altLang="ko-KR" sz="2800" b="0" i="1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Presented by</a:t>
            </a:r>
            <a:r>
              <a:rPr lang="en-US" altLang="ko-KR" sz="28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altLang="ko-KR" sz="28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000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lang="en-US" altLang="ko-KR" sz="2800" i="1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# or date (ex . July 14, 2023) </a:t>
            </a:r>
            <a:endParaRPr lang="en-US" altLang="ko-KR" sz="28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836EB0D5-11CC-7F15-4703-AE4E70041FD3}"/>
              </a:ext>
            </a:extLst>
          </p:cNvPr>
          <p:cNvSpPr txBox="1">
            <a:spLocks/>
          </p:cNvSpPr>
          <p:nvPr userDrawn="1"/>
        </p:nvSpPr>
        <p:spPr>
          <a:xfrm>
            <a:off x="1517650" y="4683957"/>
            <a:ext cx="9144000" cy="814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3200"/>
              <a:buFont typeface="Arial"/>
              <a:buNone/>
            </a:pPr>
            <a:endParaRPr lang="en-US" altLang="ko-KR" sz="280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871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E0050C3-EB6F-2837-260B-3F7FB3124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7CD37660-8D96-A1C2-07BF-C12D9252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63572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414AEC4D-8EC6-6E53-2CF8-C139603486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59146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28A6C126-6276-85FD-9BAE-8D5C9A65558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26743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B3B456-6773-FE4D-C4D6-C81C0BA41F52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E4EA05B-039D-A109-8B28-183FFC7F20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BF7735-6E02-F223-9B45-17BF7E546B44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B5AD1-DD15-5981-96EB-C743AFD4D4BE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47F3FF8-B5F2-186E-8DAC-C74DF5936B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1E1C3386-D780-3EC7-AE13-2BB598458BA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504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31889655-B52C-D859-FE50-9C93273261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A60FB60E-57DE-AF09-B504-E564E5E90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979" y="2103437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6" name="텍스트 개체 틀 4">
            <a:extLst>
              <a:ext uri="{FF2B5EF4-FFF2-40B4-BE49-F238E27FC236}">
                <a16:creationId xmlns:a16="http://schemas.microsoft.com/office/drawing/2014/main" id="{4DA35638-46F3-7CB8-38F6-02235EC5DE2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26979" y="1059177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내용 개체 틀 5">
            <a:extLst>
              <a:ext uri="{FF2B5EF4-FFF2-40B4-BE49-F238E27FC236}">
                <a16:creationId xmlns:a16="http://schemas.microsoft.com/office/drawing/2014/main" id="{A6164E54-275D-F2A7-D349-70BC890D5B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76830" y="3735138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350D50A-C44D-5421-AE07-997B576EB3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07EB98B-41F5-9DF4-0631-5FC5FDE25A89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3D82F3-0225-CF2A-9E4A-E935E9741886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C5F4BF5-E4E3-E91E-C740-475E87FF8A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88388D72-83A4-1B8E-E7C6-17634BF02B50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723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1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12B46E-7444-854B-7120-F62EA6C792BA}"/>
              </a:ext>
            </a:extLst>
          </p:cNvPr>
          <p:cNvSpPr/>
          <p:nvPr userDrawn="1"/>
        </p:nvSpPr>
        <p:spPr>
          <a:xfrm>
            <a:off x="0" y="0"/>
            <a:ext cx="4429377" cy="65108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원형: 비어 있음 2">
            <a:extLst>
              <a:ext uri="{FF2B5EF4-FFF2-40B4-BE49-F238E27FC236}">
                <a16:creationId xmlns:a16="http://schemas.microsoft.com/office/drawing/2014/main" id="{8662F614-1E53-931A-0932-3BE883AA3AC5}"/>
              </a:ext>
            </a:extLst>
          </p:cNvPr>
          <p:cNvSpPr/>
          <p:nvPr userDrawn="1"/>
        </p:nvSpPr>
        <p:spPr>
          <a:xfrm>
            <a:off x="-1151798" y="5012270"/>
            <a:ext cx="4399365" cy="4399365"/>
          </a:xfrm>
          <a:prstGeom prst="donut">
            <a:avLst>
              <a:gd name="adj" fmla="val 16939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8EE06B-E5D8-042D-896E-DF262142FDD8}"/>
              </a:ext>
            </a:extLst>
          </p:cNvPr>
          <p:cNvSpPr/>
          <p:nvPr userDrawn="1"/>
        </p:nvSpPr>
        <p:spPr>
          <a:xfrm rot="20946277" flipH="1">
            <a:off x="1388673" y="-1064553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4F2635-1CBD-2526-068A-947F8525DFAE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5E0A39-0BA2-132B-1D56-99E04D6D4411}"/>
              </a:ext>
            </a:extLst>
          </p:cNvPr>
          <p:cNvSpPr/>
          <p:nvPr userDrawn="1"/>
        </p:nvSpPr>
        <p:spPr>
          <a:xfrm>
            <a:off x="0" y="6510867"/>
            <a:ext cx="12192000" cy="3471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366BBB-B62F-85F2-9345-C0F766E3F3F3}"/>
              </a:ext>
            </a:extLst>
          </p:cNvPr>
          <p:cNvSpPr/>
          <p:nvPr userDrawn="1"/>
        </p:nvSpPr>
        <p:spPr>
          <a:xfrm flipH="1">
            <a:off x="3328023" y="-596767"/>
            <a:ext cx="1101354" cy="7107632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149C75-8E74-9EAB-5C71-A3134921F2F8}"/>
              </a:ext>
            </a:extLst>
          </p:cNvPr>
          <p:cNvSpPr/>
          <p:nvPr userDrawn="1"/>
        </p:nvSpPr>
        <p:spPr>
          <a:xfrm>
            <a:off x="0" y="3061"/>
            <a:ext cx="12192000" cy="1203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7CD37660-8D96-A1C2-07BF-C12D92523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74289" y="2635729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414AEC4D-8EC6-6E53-2CF8-C139603486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74289" y="1591469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28A6C126-6276-85FD-9BAE-8D5C9A65558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24140" y="4267430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B3B456-6773-FE4D-C4D6-C81C0BA41F52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E4EA05B-039D-A109-8B28-183FFC7F2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BF7735-6E02-F223-9B45-17BF7E546B44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B5AD1-DD15-5981-96EB-C743AFD4D4BE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47F3FF8-B5F2-186E-8DAC-C74DF5936B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1A35138-1582-D9CC-8A5C-D5BAC51635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87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2] 간지2(세부구성도형 al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C5CF9EE-BD49-8C08-24E8-B759A45F37F8}"/>
              </a:ext>
            </a:extLst>
          </p:cNvPr>
          <p:cNvSpPr/>
          <p:nvPr userDrawn="1"/>
        </p:nvSpPr>
        <p:spPr>
          <a:xfrm>
            <a:off x="0" y="0"/>
            <a:ext cx="4429377" cy="65108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DE8363-379E-5B46-2D09-EFF2D07AA3DC}"/>
              </a:ext>
            </a:extLst>
          </p:cNvPr>
          <p:cNvSpPr/>
          <p:nvPr userDrawn="1"/>
        </p:nvSpPr>
        <p:spPr>
          <a:xfrm rot="20946277" flipH="1">
            <a:off x="1388673" y="-1064553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0B37E5-6C53-6951-EFD9-A564A89E919F}"/>
              </a:ext>
            </a:extLst>
          </p:cNvPr>
          <p:cNvSpPr/>
          <p:nvPr userDrawn="1"/>
        </p:nvSpPr>
        <p:spPr>
          <a:xfrm rot="653723">
            <a:off x="-400788" y="-1064551"/>
            <a:ext cx="1101354" cy="8051534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DB3753-5EF3-7423-BA61-D5213940BD11}"/>
              </a:ext>
            </a:extLst>
          </p:cNvPr>
          <p:cNvSpPr/>
          <p:nvPr userDrawn="1"/>
        </p:nvSpPr>
        <p:spPr>
          <a:xfrm>
            <a:off x="0" y="6510867"/>
            <a:ext cx="12192000" cy="3471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F526F6-743B-7D65-0EC6-402AAF797ABE}"/>
              </a:ext>
            </a:extLst>
          </p:cNvPr>
          <p:cNvSpPr/>
          <p:nvPr userDrawn="1"/>
        </p:nvSpPr>
        <p:spPr>
          <a:xfrm flipH="1">
            <a:off x="3328023" y="-596767"/>
            <a:ext cx="1101354" cy="7107632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C91154-B42A-C323-FE40-85A7A088B950}"/>
              </a:ext>
            </a:extLst>
          </p:cNvPr>
          <p:cNvSpPr/>
          <p:nvPr userDrawn="1"/>
        </p:nvSpPr>
        <p:spPr>
          <a:xfrm>
            <a:off x="0" y="3061"/>
            <a:ext cx="4429377" cy="1203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CAA88F-34B3-27AC-2CCF-6EEDC35E76C7}"/>
              </a:ext>
            </a:extLst>
          </p:cNvPr>
          <p:cNvSpPr/>
          <p:nvPr userDrawn="1"/>
        </p:nvSpPr>
        <p:spPr>
          <a:xfrm rot="16200000" flipH="1">
            <a:off x="1612970" y="-1612971"/>
            <a:ext cx="1203440" cy="4429377"/>
          </a:xfrm>
          <a:prstGeom prst="rect">
            <a:avLst/>
          </a:pr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7442A2AA-0E92-E320-5C82-3EDFC22D5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979" y="2103437"/>
            <a:ext cx="6138793" cy="1325563"/>
          </a:xfrm>
        </p:spPr>
        <p:txBody>
          <a:bodyPr/>
          <a:lstStyle>
            <a:lvl1pPr>
              <a:defRPr sz="6600"/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F3B8F25F-25E8-76BC-3731-CCD70CC0E5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026979" y="1059177"/>
            <a:ext cx="9490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>
                <a:ln>
                  <a:noFill/>
                </a:ln>
                <a:solidFill>
                  <a:srgbClr val="30D7D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kumimoji="0" lang="en-US" altLang="ko-KR" sz="3200" b="1" i="0" u="none" strike="noStrike" kern="1200" cap="none" spc="0" normalizeH="0" baseline="0" noProof="0">
              <a:ln>
                <a:noFill/>
              </a:ln>
              <a:solidFill>
                <a:srgbClr val="30D7D4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68717376-8AC6-1E51-5468-7A87C9429D4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476830" y="3735138"/>
            <a:ext cx="5183188" cy="1226416"/>
          </a:xfrm>
        </p:spPr>
        <p:txBody>
          <a:bodyPr/>
          <a:lstStyle>
            <a:lvl1pPr marL="228600" indent="-228600">
              <a:buClr>
                <a:srgbClr val="30DCD8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Text1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Text2</a:t>
            </a:r>
          </a:p>
          <a:p>
            <a:pPr lvl="0"/>
            <a:r>
              <a:rPr kumimoji="0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94EEE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Text3</a:t>
            </a:r>
          </a:p>
          <a:p>
            <a:pPr lvl="0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164922-22BD-7FE8-CA0A-C4A95CCD4EB9}"/>
              </a:ext>
            </a:extLst>
          </p:cNvPr>
          <p:cNvSpPr/>
          <p:nvPr userDrawn="1"/>
        </p:nvSpPr>
        <p:spPr>
          <a:xfrm>
            <a:off x="0" y="6558287"/>
            <a:ext cx="12192000" cy="2616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B951E7C-3421-9C10-15FC-D670DE440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516" y="6566482"/>
            <a:ext cx="223459" cy="2318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BC6D9E-980C-1CFC-66E2-F1E7CB4555C9}"/>
              </a:ext>
            </a:extLst>
          </p:cNvPr>
          <p:cNvSpPr txBox="1"/>
          <p:nvPr userDrawn="1"/>
        </p:nvSpPr>
        <p:spPr>
          <a:xfrm>
            <a:off x="11763375" y="6498483"/>
            <a:ext cx="48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1867B69-29B5-4D88-84BC-E85DE63B35FE}" type="slidenum">
              <a:rPr lang="en-US" altLang="ko-KR" b="1" smtClean="0">
                <a:solidFill>
                  <a:schemeClr val="bg1"/>
                </a:solidFill>
              </a:rPr>
              <a:t>‹#›</a:t>
            </a:fld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FD67B-1F64-BBB1-C84B-9D03150A284C}"/>
              </a:ext>
            </a:extLst>
          </p:cNvPr>
          <p:cNvSpPr txBox="1"/>
          <p:nvPr userDrawn="1"/>
        </p:nvSpPr>
        <p:spPr>
          <a:xfrm>
            <a:off x="9027581" y="6545994"/>
            <a:ext cx="26484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SNU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Graduate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School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맑은 고딕 Semilight" panose="020B0502040204020203" pitchFamily="50" charset="-127"/>
              </a:rPr>
              <a:t>Science</a:t>
            </a:r>
            <a:endParaRPr lang="ko-KR" altLang="en-US" sz="110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05F913A-BE83-254E-9685-880AA74E54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279" y="173112"/>
            <a:ext cx="1213567" cy="782328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A75EEAC-56B3-791B-2AA3-4286F1E0E94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92544" y="6603448"/>
            <a:ext cx="1454150" cy="20875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 b="0">
                <a:solidFill>
                  <a:schemeClr val="bg1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b="1">
                <a:solidFill>
                  <a:srgbClr val="30DCD8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1600200" indent="-228600">
              <a:buFont typeface="Calibri Light" panose="020F0302020204030204" pitchFamily="34" charset="0"/>
              <a:buChar char="−"/>
              <a:defRPr>
                <a:solidFill>
                  <a:schemeClr val="tx1"/>
                </a:solidFill>
              </a:defRPr>
            </a:lvl4pPr>
            <a:lvl5pPr marL="2057400" indent="-228600">
              <a:buFont typeface="Calibri Light" panose="020F0302020204030204" pitchFamily="34" charset="0"/>
              <a:buChar char="◦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과목명 및 </a:t>
            </a:r>
            <a:r>
              <a:rPr lang="ko-KR" altLang="en-US" err="1"/>
              <a:t>대제목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175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00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13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4" r:id="rId3"/>
    <p:sldLayoutId id="2147483665" r:id="rId4"/>
    <p:sldLayoutId id="2147483679" r:id="rId5"/>
    <p:sldLayoutId id="2147483661" r:id="rId6"/>
    <p:sldLayoutId id="2147483662" r:id="rId7"/>
    <p:sldLayoutId id="2147483650" r:id="rId8"/>
    <p:sldLayoutId id="2147483678" r:id="rId9"/>
    <p:sldLayoutId id="2147483698" r:id="rId10"/>
    <p:sldLayoutId id="2147483671" r:id="rId11"/>
    <p:sldLayoutId id="2147483699" r:id="rId12"/>
    <p:sldLayoutId id="2147483651" r:id="rId13"/>
    <p:sldLayoutId id="2147483694" r:id="rId14"/>
    <p:sldLayoutId id="2147483688" r:id="rId15"/>
    <p:sldLayoutId id="2147483683" r:id="rId16"/>
    <p:sldLayoutId id="2147483697" r:id="rId17"/>
    <p:sldLayoutId id="2147483695" r:id="rId18"/>
    <p:sldLayoutId id="2147483663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8BA50-A57B-1EA8-B3DB-E82DAE835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116" y="2230684"/>
            <a:ext cx="11476139" cy="1283745"/>
          </a:xfrm>
        </p:spPr>
        <p:txBody>
          <a:bodyPr/>
          <a:lstStyle/>
          <a:p>
            <a:r>
              <a:rPr lang="en-US" altLang="ko-KR" sz="3600" b="1" dirty="0"/>
              <a:t>Sleep Macrostructure Analysis</a:t>
            </a:r>
            <a:endParaRPr lang="ko-KR" altLang="en-US" sz="3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D09CFA-638E-C9B6-D751-441360B23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2025. 12. 17</a:t>
            </a:r>
          </a:p>
          <a:p>
            <a:r>
              <a:rPr lang="en-US" altLang="ko-KR" dirty="0" err="1"/>
              <a:t>Dongjae</a:t>
            </a:r>
            <a:r>
              <a:rPr lang="en-US" altLang="ko-KR" dirty="0"/>
              <a:t> Seo</a:t>
            </a:r>
          </a:p>
        </p:txBody>
      </p:sp>
    </p:spTree>
    <p:extLst>
      <p:ext uri="{BB962C8B-B14F-4D97-AF65-F5344CB8AC3E}">
        <p14:creationId xmlns:p14="http://schemas.microsoft.com/office/powerpoint/2010/main" val="3887077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036E-4FC1-2BE2-A3C3-4C0F2105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45A29-3BBF-1F60-4A8E-51BE2C6E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B1950-7BA2-7C48-D459-04101BF12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ko-KR" altLang="en-US" sz="2400" b="0" dirty="0"/>
              <a:t> </a:t>
            </a:r>
            <a:r>
              <a:rPr lang="en-US" altLang="ko-KR" sz="2400" b="0" dirty="0"/>
              <a:t>Sleep Macrostructure </a:t>
            </a:r>
            <a:r>
              <a:rPr lang="ko-KR" altLang="en-US" sz="2400" b="0" dirty="0"/>
              <a:t> </a:t>
            </a:r>
            <a:endParaRPr lang="en-US" altLang="ko-KR" sz="2400" b="0" dirty="0"/>
          </a:p>
          <a:p>
            <a:pPr lvl="1"/>
            <a:endParaRPr lang="en-US" altLang="ko-KR" sz="1600" b="0" dirty="0"/>
          </a:p>
          <a:p>
            <a:pPr lvl="1"/>
            <a:r>
              <a:rPr lang="en-US" sz="1600" dirty="0"/>
              <a:t>Overall overnight sleep structure and distribution</a:t>
            </a:r>
            <a:endParaRPr lang="en-US" altLang="ko-KR" sz="1600" dirty="0"/>
          </a:p>
          <a:p>
            <a:pPr lvl="1"/>
            <a:r>
              <a:rPr lang="en-US" altLang="ko-KR" sz="1600" b="0" dirty="0"/>
              <a:t>Reference: </a:t>
            </a:r>
            <a:r>
              <a:rPr lang="en-US" altLang="ko-KR" sz="1600" dirty="0"/>
              <a:t>Mander BA, Winer JR, Walker MP. Sleep and Human Aging. (Neuron. 2017)</a:t>
            </a:r>
            <a:endParaRPr lang="ko-KR" altLang="en-US" sz="1600" dirty="0"/>
          </a:p>
          <a:p>
            <a:pPr lvl="1"/>
            <a:r>
              <a:rPr lang="en-US" sz="1600" b="0" dirty="0"/>
              <a:t>Differences in sleep macrostructure based on individual characteristics </a:t>
            </a:r>
            <a:r>
              <a:rPr lang="en-US" sz="1600" dirty="0"/>
              <a:t>(age, gender, etc.)</a:t>
            </a:r>
            <a:endParaRPr lang="en-US" altLang="ko-KR" sz="1600" b="0" dirty="0"/>
          </a:p>
          <a:p>
            <a:pPr marL="457200" lvl="1" indent="0">
              <a:buNone/>
            </a:pPr>
            <a:endParaRPr lang="en-US" altLang="ko-KR" sz="1600" b="0" dirty="0"/>
          </a:p>
          <a:p>
            <a:pPr marL="457200" lvl="1" indent="0">
              <a:buNone/>
            </a:pPr>
            <a:endParaRPr lang="en-US" altLang="ko-KR" sz="1600" b="0" dirty="0"/>
          </a:p>
          <a:p>
            <a:pPr marL="457200" lvl="1" indent="0">
              <a:buNone/>
            </a:pPr>
            <a:r>
              <a:rPr lang="en-US" altLang="ko-KR" sz="1600" dirty="0"/>
              <a:t>Analysis:</a:t>
            </a:r>
          </a:p>
          <a:p>
            <a:pPr marL="457200" lvl="1" indent="0">
              <a:buNone/>
            </a:pPr>
            <a:r>
              <a:rPr lang="en-US" altLang="ko-KR" sz="1600" b="0" dirty="0"/>
              <a:t>Based on PhysioNet Annotations</a:t>
            </a:r>
          </a:p>
          <a:p>
            <a:pPr marL="457200" lvl="1" indent="0">
              <a:buNone/>
            </a:pPr>
            <a:r>
              <a:rPr lang="en-US" sz="1600" dirty="0"/>
              <a:t>Analysis of factors influencing sleep macrostructure discussed in prior literature</a:t>
            </a:r>
            <a:endParaRPr lang="en-US" altLang="ko-KR" sz="1600" b="0" dirty="0"/>
          </a:p>
          <a:p>
            <a:pPr marL="457200" lvl="1" indent="0">
              <a:buNone/>
            </a:pPr>
            <a:endParaRPr lang="en-US" altLang="ko-KR" sz="1600" b="0" dirty="0"/>
          </a:p>
          <a:p>
            <a:pPr lvl="1"/>
            <a:r>
              <a:rPr lang="en-US" altLang="ko-KR" sz="1600" b="0" dirty="0"/>
              <a:t>Early / Late Cycle</a:t>
            </a:r>
          </a:p>
          <a:p>
            <a:pPr lvl="1"/>
            <a:r>
              <a:rPr lang="en-US" altLang="ko-KR" sz="1600" b="0" dirty="0"/>
              <a:t>Age</a:t>
            </a:r>
          </a:p>
          <a:p>
            <a:pPr lvl="1"/>
            <a:r>
              <a:rPr lang="en-US" altLang="ko-KR" sz="1600" b="0" dirty="0"/>
              <a:t>Gender</a:t>
            </a:r>
          </a:p>
          <a:p>
            <a:pPr lvl="1"/>
            <a:r>
              <a:rPr lang="en-US" altLang="ko-KR" sz="1600" b="0" dirty="0"/>
              <a:t>BMI (Observatory)</a:t>
            </a:r>
          </a:p>
          <a:p>
            <a:pPr lvl="1"/>
            <a:endParaRPr lang="en-US" altLang="ko-KR" sz="1600" b="0" dirty="0"/>
          </a:p>
          <a:p>
            <a:pPr lvl="1"/>
            <a:endParaRPr lang="en-US" altLang="ko-KR" sz="1600" b="0" dirty="0"/>
          </a:p>
        </p:txBody>
      </p:sp>
    </p:spTree>
    <p:extLst>
      <p:ext uri="{BB962C8B-B14F-4D97-AF65-F5344CB8AC3E}">
        <p14:creationId xmlns:p14="http://schemas.microsoft.com/office/powerpoint/2010/main" val="267121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57208-AA4C-36B4-C35C-C005C4E8D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D9865-1F8B-E055-6250-0F241D9F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7BAA1-19D2-C1B7-5DD3-D99F3DC9D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en-US" altLang="ko-KR" sz="2400" b="0" dirty="0"/>
              <a:t> Early / Late Cycle</a:t>
            </a:r>
          </a:p>
          <a:p>
            <a:pPr lvl="1"/>
            <a:r>
              <a:rPr lang="en-US" altLang="ko-KR" sz="1600" b="0" dirty="0"/>
              <a:t>Early Sleep: Higher N3 proportion</a:t>
            </a:r>
          </a:p>
          <a:p>
            <a:pPr lvl="1"/>
            <a:r>
              <a:rPr lang="en-US" altLang="ko-KR" sz="1600" b="0" dirty="0"/>
              <a:t>Late Sleep: Increased REM proportion</a:t>
            </a:r>
          </a:p>
        </p:txBody>
      </p:sp>
      <p:pic>
        <p:nvPicPr>
          <p:cNvPr id="6" name="Picture 5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08205B40-3ED3-F216-AEB2-01EAAA9F4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13" y="2341526"/>
            <a:ext cx="5585174" cy="33511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B8D6F5-87E1-2BE8-E37D-4672661ED9C2}"/>
              </a:ext>
            </a:extLst>
          </p:cNvPr>
          <p:cNvSpPr/>
          <p:nvPr/>
        </p:nvSpPr>
        <p:spPr>
          <a:xfrm>
            <a:off x="6961854" y="4851358"/>
            <a:ext cx="685800" cy="8412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CAE2C-AF5E-64AC-BDD3-8531421CADF7}"/>
              </a:ext>
            </a:extLst>
          </p:cNvPr>
          <p:cNvSpPr/>
          <p:nvPr/>
        </p:nvSpPr>
        <p:spPr>
          <a:xfrm>
            <a:off x="7996849" y="4837040"/>
            <a:ext cx="685800" cy="8412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0DAEC-39DD-E1E5-D6A5-60F9C34C52F9}"/>
              </a:ext>
            </a:extLst>
          </p:cNvPr>
          <p:cNvSpPr txBox="1"/>
          <p:nvPr/>
        </p:nvSpPr>
        <p:spPr>
          <a:xfrm>
            <a:off x="3837345" y="2821390"/>
            <a:ext cx="254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PhysioNet : 991 patients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FB6B-4E2C-4073-917C-63C541A031A1}"/>
              </a:ext>
            </a:extLst>
          </p:cNvPr>
          <p:cNvSpPr txBox="1"/>
          <p:nvPr/>
        </p:nvSpPr>
        <p:spPr>
          <a:xfrm>
            <a:off x="4199128" y="5931453"/>
            <a:ext cx="656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Early / Late Sleep  - </a:t>
            </a:r>
            <a:r>
              <a:rPr lang="en-US" altLang="ko-KR" sz="1400" dirty="0">
                <a:solidFill>
                  <a:schemeClr val="accent1"/>
                </a:solidFill>
              </a:rPr>
              <a:t>Stage Proportion Plot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93894B-9172-1924-1B16-4404FA100CA5}"/>
              </a:ext>
            </a:extLst>
          </p:cNvPr>
          <p:cNvSpPr txBox="1"/>
          <p:nvPr/>
        </p:nvSpPr>
        <p:spPr>
          <a:xfrm>
            <a:off x="6828758" y="4151827"/>
            <a:ext cx="951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N3(%):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13.9 -&gt; 9.2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96303D-6FED-AE7F-0FA2-FE940F97B17E}"/>
              </a:ext>
            </a:extLst>
          </p:cNvPr>
          <p:cNvSpPr txBox="1"/>
          <p:nvPr/>
        </p:nvSpPr>
        <p:spPr>
          <a:xfrm>
            <a:off x="7863753" y="4137509"/>
            <a:ext cx="951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REM(%):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7.4 -&gt; 18.9</a:t>
            </a:r>
          </a:p>
        </p:txBody>
      </p:sp>
    </p:spTree>
    <p:extLst>
      <p:ext uri="{BB962C8B-B14F-4D97-AF65-F5344CB8AC3E}">
        <p14:creationId xmlns:p14="http://schemas.microsoft.com/office/powerpoint/2010/main" val="302232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0E96-C716-E800-F872-456FCF67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21B71-1574-843D-06A0-1924021A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E3623-E456-952C-25D6-4CC888400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en-US" altLang="ko-KR" sz="2400" b="0" dirty="0"/>
              <a:t> Macrostructure change with Age</a:t>
            </a:r>
          </a:p>
          <a:p>
            <a:pPr lvl="1"/>
            <a:r>
              <a:rPr lang="en-US" altLang="ko-KR" sz="1600" b="0" dirty="0"/>
              <a:t>Age as a Major Factor influencing Sleep Macrostructure</a:t>
            </a:r>
          </a:p>
          <a:p>
            <a:pPr lvl="1"/>
            <a:r>
              <a:rPr lang="en-US" altLang="ko-KR" sz="1600" b="0" dirty="0"/>
              <a:t>As Age increases:</a:t>
            </a:r>
          </a:p>
          <a:p>
            <a:pPr lvl="2"/>
            <a:r>
              <a:rPr lang="en-US" altLang="ko-KR" sz="1200" b="0" dirty="0"/>
              <a:t>Total Sleep Time </a:t>
            </a:r>
            <a:r>
              <a:rPr lang="en-US" altLang="ko-KR" sz="1200" dirty="0"/>
              <a:t>decreases</a:t>
            </a:r>
            <a:endParaRPr lang="en-US" altLang="ko-KR" sz="1200" b="0" dirty="0"/>
          </a:p>
          <a:p>
            <a:pPr lvl="2"/>
            <a:r>
              <a:rPr lang="en-US" altLang="ko-KR" sz="1200" dirty="0"/>
              <a:t>Sleep Fragmentation increases</a:t>
            </a:r>
          </a:p>
          <a:p>
            <a:pPr lvl="2"/>
            <a:r>
              <a:rPr lang="en-US" altLang="ko-KR" sz="1200" dirty="0"/>
              <a:t>Deeper NREM (N3) decreases</a:t>
            </a:r>
          </a:p>
          <a:p>
            <a:pPr marL="914400" lvl="2" indent="0">
              <a:buNone/>
            </a:pPr>
            <a:endParaRPr lang="en-US" altLang="ko-KR" sz="1200" dirty="0"/>
          </a:p>
          <a:p>
            <a:pPr lvl="2"/>
            <a:endParaRPr lang="en-US" altLang="ko-KR" sz="1200" b="0" dirty="0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31E03AC-C409-E0E5-9431-A2938C59A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482" y="3006613"/>
            <a:ext cx="5699123" cy="34194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3FA3F06-1DD9-9550-304A-2FB252C6D6B0}"/>
              </a:ext>
            </a:extLst>
          </p:cNvPr>
          <p:cNvSpPr txBox="1"/>
          <p:nvPr/>
        </p:nvSpPr>
        <p:spPr>
          <a:xfrm>
            <a:off x="7142417" y="3987799"/>
            <a:ext cx="25744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18-39 : 148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40-59 : 451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60-79 : 366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80+     : 26 patients</a:t>
            </a:r>
          </a:p>
          <a:p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200" dirty="0">
                <a:solidFill>
                  <a:schemeClr val="accent1"/>
                </a:solidFill>
              </a:rPr>
              <a:t>= 991 Patients</a:t>
            </a:r>
          </a:p>
          <a:p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B0FF8-1F54-565D-A86A-8A7395121FFB}"/>
              </a:ext>
            </a:extLst>
          </p:cNvPr>
          <p:cNvSpPr txBox="1"/>
          <p:nvPr/>
        </p:nvSpPr>
        <p:spPr>
          <a:xfrm>
            <a:off x="5331333" y="3438653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PhysioNet - Early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4B6C66-ECD8-2793-B3DA-05B587D3DA2E}"/>
              </a:ext>
            </a:extLst>
          </p:cNvPr>
          <p:cNvSpPr txBox="1"/>
          <p:nvPr/>
        </p:nvSpPr>
        <p:spPr>
          <a:xfrm>
            <a:off x="4034536" y="6394354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Age group - Stage Proportion Plot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accent1"/>
                </a:solidFill>
              </a:rPr>
              <a:t>(Early)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7D4E9E33-C945-1D66-D104-3F6BB18E4A46}"/>
              </a:ext>
            </a:extLst>
          </p:cNvPr>
          <p:cNvSpPr txBox="1">
            <a:spLocks/>
          </p:cNvSpPr>
          <p:nvPr/>
        </p:nvSpPr>
        <p:spPr>
          <a:xfrm>
            <a:off x="6262434" y="1588887"/>
            <a:ext cx="5690012" cy="118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ko-KR" sz="1600" b="0" dirty="0"/>
              <a:t>Observation:</a:t>
            </a:r>
          </a:p>
          <a:p>
            <a:pPr lvl="1"/>
            <a:r>
              <a:rPr lang="en-US" sz="1600" b="0" dirty="0"/>
              <a:t>Increased proportion of Wake in the aged group, indicating greater fragmentation</a:t>
            </a:r>
          </a:p>
          <a:p>
            <a:pPr lvl="1"/>
            <a:r>
              <a:rPr lang="en-US" sz="1600" b="0" dirty="0"/>
              <a:t>Reduction in N3, particularly during early sleep</a:t>
            </a:r>
          </a:p>
          <a:p>
            <a:pPr lvl="1"/>
            <a:r>
              <a:rPr lang="en-US" sz="1600" b="0" dirty="0"/>
              <a:t>Age-related trends persist during late sleep as well</a:t>
            </a:r>
            <a:endParaRPr lang="en-US" altLang="ko-KR" sz="1600" b="0" dirty="0"/>
          </a:p>
        </p:txBody>
      </p:sp>
    </p:spTree>
    <p:extLst>
      <p:ext uri="{BB962C8B-B14F-4D97-AF65-F5344CB8AC3E}">
        <p14:creationId xmlns:p14="http://schemas.microsoft.com/office/powerpoint/2010/main" val="389625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9C8E-C531-F0AD-BBD3-7A6B37CF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2AA74E8-C665-A051-A3E1-34E642137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998" y="2993128"/>
            <a:ext cx="5699124" cy="34194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AB96F36-E05F-A197-11B8-652AA943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FE9131-6B33-6816-DA0E-79B9A16A816B}"/>
              </a:ext>
            </a:extLst>
          </p:cNvPr>
          <p:cNvSpPr txBox="1"/>
          <p:nvPr/>
        </p:nvSpPr>
        <p:spPr>
          <a:xfrm>
            <a:off x="7208805" y="3973969"/>
            <a:ext cx="25744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18-39 : 148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40-59 : 451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60-79 : 366 patients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80+     : 26 patients</a:t>
            </a:r>
          </a:p>
          <a:p>
            <a:endParaRPr lang="en-US" sz="1200" dirty="0">
              <a:solidFill>
                <a:schemeClr val="accent1"/>
              </a:solidFill>
            </a:endParaRPr>
          </a:p>
          <a:p>
            <a:r>
              <a:rPr lang="en-US" sz="1200" dirty="0">
                <a:solidFill>
                  <a:schemeClr val="accent1"/>
                </a:solidFill>
              </a:rPr>
              <a:t>= 991 Patients</a:t>
            </a:r>
          </a:p>
          <a:p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96C8D-3BF6-8278-54E0-8854571D68D9}"/>
              </a:ext>
            </a:extLst>
          </p:cNvPr>
          <p:cNvSpPr txBox="1"/>
          <p:nvPr/>
        </p:nvSpPr>
        <p:spPr>
          <a:xfrm>
            <a:off x="5397721" y="3424823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PhysioNet - Late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00B8E-04FE-014B-62A0-B63A0B108A12}"/>
              </a:ext>
            </a:extLst>
          </p:cNvPr>
          <p:cNvSpPr txBox="1"/>
          <p:nvPr/>
        </p:nvSpPr>
        <p:spPr>
          <a:xfrm>
            <a:off x="4140200" y="6412603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Age group - Stage Proportion Plot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accent1"/>
                </a:solidFill>
              </a:rPr>
              <a:t>(Late)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42941ED-8115-184B-74ED-6670DFCE16C3}"/>
              </a:ext>
            </a:extLst>
          </p:cNvPr>
          <p:cNvSpPr txBox="1">
            <a:spLocks/>
          </p:cNvSpPr>
          <p:nvPr/>
        </p:nvSpPr>
        <p:spPr>
          <a:xfrm>
            <a:off x="239554" y="1179552"/>
            <a:ext cx="11165046" cy="4837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0" dirty="0"/>
              <a:t> Macrostructure change with Age</a:t>
            </a:r>
          </a:p>
          <a:p>
            <a:pPr lvl="1"/>
            <a:r>
              <a:rPr lang="en-US" altLang="ko-KR" sz="1600" b="0" dirty="0"/>
              <a:t>Age as a Major Factor influencing Sleep Macrostructure</a:t>
            </a:r>
          </a:p>
          <a:p>
            <a:pPr lvl="1"/>
            <a:r>
              <a:rPr lang="en-US" altLang="ko-KR" sz="1600" b="0" dirty="0"/>
              <a:t>As Age increases:</a:t>
            </a:r>
          </a:p>
          <a:p>
            <a:pPr lvl="2"/>
            <a:r>
              <a:rPr lang="en-US" altLang="ko-KR" sz="1200" dirty="0"/>
              <a:t>Total Sleep Time decreases</a:t>
            </a:r>
          </a:p>
          <a:p>
            <a:pPr lvl="2"/>
            <a:r>
              <a:rPr lang="en-US" altLang="ko-KR" sz="1200" dirty="0"/>
              <a:t>Sleep Fragmentation increases</a:t>
            </a:r>
          </a:p>
          <a:p>
            <a:pPr lvl="2"/>
            <a:r>
              <a:rPr lang="en-US" altLang="ko-KR" sz="1200" dirty="0"/>
              <a:t>Deeper NREM (N3) decreases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sz="1200" dirty="0"/>
          </a:p>
          <a:p>
            <a:pPr lvl="2"/>
            <a:endParaRPr lang="en-US" altLang="ko-KR" sz="12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6682816-635E-F051-A210-7DB689964790}"/>
              </a:ext>
            </a:extLst>
          </p:cNvPr>
          <p:cNvSpPr txBox="1">
            <a:spLocks/>
          </p:cNvSpPr>
          <p:nvPr/>
        </p:nvSpPr>
        <p:spPr>
          <a:xfrm>
            <a:off x="6262434" y="1588887"/>
            <a:ext cx="5690012" cy="118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ko-KR" sz="1600" b="0" dirty="0"/>
              <a:t>Observation:</a:t>
            </a:r>
          </a:p>
          <a:p>
            <a:pPr lvl="1"/>
            <a:r>
              <a:rPr lang="en-US" sz="1600" b="0" dirty="0"/>
              <a:t>Increased proportion of Wake in the aged group, indicating greater fragmentation</a:t>
            </a:r>
          </a:p>
          <a:p>
            <a:pPr lvl="1"/>
            <a:r>
              <a:rPr lang="en-US" sz="1600" b="0" dirty="0"/>
              <a:t>Reduction in N3, particularly during early sleep</a:t>
            </a:r>
          </a:p>
          <a:p>
            <a:pPr lvl="1"/>
            <a:r>
              <a:rPr lang="en-US" sz="1600" b="0" dirty="0"/>
              <a:t>Age-related trends persist during late sleep as well</a:t>
            </a:r>
            <a:endParaRPr lang="en-US" altLang="ko-KR" sz="1600" b="0" dirty="0"/>
          </a:p>
        </p:txBody>
      </p:sp>
    </p:spTree>
    <p:extLst>
      <p:ext uri="{BB962C8B-B14F-4D97-AF65-F5344CB8AC3E}">
        <p14:creationId xmlns:p14="http://schemas.microsoft.com/office/powerpoint/2010/main" val="84775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8966-D5B6-2962-7F32-148E793A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A15C58EA-686B-D5A8-FC74-1AB220E42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077" y="2898515"/>
            <a:ext cx="5962659" cy="35775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5F28A5D-3066-27E5-22E6-1C1C8000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7EAD2A-DC34-CE06-2AE6-5FD59A0E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en-US" altLang="ko-KR" sz="2400" b="0" dirty="0"/>
              <a:t> Macrostructure change with Gender</a:t>
            </a:r>
          </a:p>
          <a:p>
            <a:pPr lvl="1"/>
            <a:r>
              <a:rPr lang="en-US" sz="1600" b="0" dirty="0"/>
              <a:t>Gender influences sleep macrostructure, </a:t>
            </a:r>
          </a:p>
          <a:p>
            <a:pPr marL="457200" lvl="1" indent="0">
              <a:buNone/>
            </a:pPr>
            <a:r>
              <a:rPr lang="en-US" sz="1600" b="0" dirty="0"/>
              <a:t>but its effect is smaller than that of age</a:t>
            </a:r>
          </a:p>
          <a:p>
            <a:pPr lvl="1"/>
            <a:r>
              <a:rPr lang="en-US" altLang="ko-KR" sz="1600" b="0" dirty="0"/>
              <a:t>Gender-based patterns</a:t>
            </a:r>
            <a:endParaRPr lang="en-US" altLang="ko-KR" sz="1200" b="0" dirty="0"/>
          </a:p>
          <a:p>
            <a:pPr lvl="2"/>
            <a:r>
              <a:rPr lang="en-US" altLang="ko-KR" sz="1200" dirty="0"/>
              <a:t>Males show lower N3 overall compared to females</a:t>
            </a:r>
          </a:p>
          <a:p>
            <a:pPr lvl="2"/>
            <a:r>
              <a:rPr lang="en-US" altLang="ko-KR" sz="1200" dirty="0"/>
              <a:t>Higher proportions of Wake/N1 in males</a:t>
            </a:r>
          </a:p>
          <a:p>
            <a:pPr marL="914400" lvl="2" indent="0">
              <a:buNone/>
            </a:pPr>
            <a:endParaRPr lang="en-US" altLang="ko-KR" sz="1200" dirty="0"/>
          </a:p>
          <a:p>
            <a:pPr lvl="2"/>
            <a:endParaRPr lang="en-US" altLang="ko-KR" sz="1200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83A45F-0371-336E-0152-2063955953E6}"/>
              </a:ext>
            </a:extLst>
          </p:cNvPr>
          <p:cNvSpPr txBox="1"/>
          <p:nvPr/>
        </p:nvSpPr>
        <p:spPr>
          <a:xfrm>
            <a:off x="6758369" y="3994899"/>
            <a:ext cx="1462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Male : 664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Female : 327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86A552-7DEA-980B-175E-970AC590D4F9}"/>
              </a:ext>
            </a:extLst>
          </p:cNvPr>
          <p:cNvSpPr txBox="1"/>
          <p:nvPr/>
        </p:nvSpPr>
        <p:spPr>
          <a:xfrm>
            <a:off x="4947285" y="3445753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PhysioNet - Early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1CDA6D-F02B-D635-B55B-2260F248EC14}"/>
              </a:ext>
            </a:extLst>
          </p:cNvPr>
          <p:cNvSpPr txBox="1"/>
          <p:nvPr/>
        </p:nvSpPr>
        <p:spPr>
          <a:xfrm>
            <a:off x="4034536" y="6394354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Gender group - stage Proportion Plot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accent1"/>
                </a:solidFill>
              </a:rPr>
              <a:t>(Early)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D54C216-40A6-B8AD-1AE1-B652A2C1B8D1}"/>
              </a:ext>
            </a:extLst>
          </p:cNvPr>
          <p:cNvSpPr txBox="1">
            <a:spLocks/>
          </p:cNvSpPr>
          <p:nvPr/>
        </p:nvSpPr>
        <p:spPr>
          <a:xfrm>
            <a:off x="6289866" y="1369057"/>
            <a:ext cx="5194998" cy="118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ko-KR" sz="1600" b="0" dirty="0"/>
              <a:t>Observation:</a:t>
            </a:r>
          </a:p>
          <a:p>
            <a:pPr lvl="1"/>
            <a:r>
              <a:rPr lang="en-US" altLang="ko-KR" sz="1600" b="0" dirty="0"/>
              <a:t>Higher N3 proportion in the female group</a:t>
            </a:r>
          </a:p>
          <a:p>
            <a:pPr lvl="1"/>
            <a:r>
              <a:rPr lang="en-US" altLang="ko-KR" sz="1600" b="0" dirty="0"/>
              <a:t>Age related trends persist during late sleep as well</a:t>
            </a:r>
          </a:p>
        </p:txBody>
      </p:sp>
    </p:spTree>
    <p:extLst>
      <p:ext uri="{BB962C8B-B14F-4D97-AF65-F5344CB8AC3E}">
        <p14:creationId xmlns:p14="http://schemas.microsoft.com/office/powerpoint/2010/main" val="318395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58AB-816C-C834-0482-3F41EAE4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A86613F-D55B-FA21-06EB-65E452865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804" y="2882146"/>
            <a:ext cx="5962660" cy="35775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3095F9A-8946-AD2D-6061-857EB9F4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643877-55ED-7225-AFDF-720165EC24DA}"/>
              </a:ext>
            </a:extLst>
          </p:cNvPr>
          <p:cNvSpPr txBox="1"/>
          <p:nvPr/>
        </p:nvSpPr>
        <p:spPr>
          <a:xfrm>
            <a:off x="6868097" y="3978146"/>
            <a:ext cx="1462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Male : 664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Female : 327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6197D1-8D6D-652F-B6D9-EED6D2A318CF}"/>
              </a:ext>
            </a:extLst>
          </p:cNvPr>
          <p:cNvSpPr txBox="1"/>
          <p:nvPr/>
        </p:nvSpPr>
        <p:spPr>
          <a:xfrm>
            <a:off x="5057013" y="3429000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PhysioNet - Late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A44E0E-1465-3345-903D-462F281CC3D4}"/>
              </a:ext>
            </a:extLst>
          </p:cNvPr>
          <p:cNvSpPr txBox="1"/>
          <p:nvPr/>
        </p:nvSpPr>
        <p:spPr>
          <a:xfrm>
            <a:off x="4034536" y="6394354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Gender group - Stage Proportion Plot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accent1"/>
                </a:solidFill>
              </a:rPr>
              <a:t>(Late)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F32FA04-566E-1324-4D5A-596CD8D1470E}"/>
              </a:ext>
            </a:extLst>
          </p:cNvPr>
          <p:cNvSpPr txBox="1">
            <a:spLocks/>
          </p:cNvSpPr>
          <p:nvPr/>
        </p:nvSpPr>
        <p:spPr>
          <a:xfrm>
            <a:off x="239554" y="1179552"/>
            <a:ext cx="11165046" cy="4837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0"/>
              <a:t> Macrostructure change with Gender</a:t>
            </a:r>
          </a:p>
          <a:p>
            <a:pPr lvl="1"/>
            <a:r>
              <a:rPr lang="en-US" sz="1600" b="0"/>
              <a:t>Gender influences sleep macrostructure,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sz="1600" b="0"/>
              <a:t>but its effect is smaller than that of age</a:t>
            </a:r>
          </a:p>
          <a:p>
            <a:pPr lvl="1"/>
            <a:r>
              <a:rPr lang="en-US" altLang="ko-KR" sz="1600" b="0"/>
              <a:t>Gender-based patterns</a:t>
            </a:r>
            <a:endParaRPr lang="en-US" altLang="ko-KR" sz="1200" b="0"/>
          </a:p>
          <a:p>
            <a:pPr lvl="2"/>
            <a:r>
              <a:rPr lang="en-US" altLang="ko-KR" sz="1200"/>
              <a:t>Males show lower N3 overall compared to females</a:t>
            </a:r>
          </a:p>
          <a:p>
            <a:pPr lvl="2"/>
            <a:r>
              <a:rPr lang="en-US" altLang="ko-KR" sz="1200"/>
              <a:t>Higher proportions of Wake/N1 in males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sz="1200"/>
          </a:p>
          <a:p>
            <a:pPr lvl="2"/>
            <a:endParaRPr lang="en-US" altLang="ko-KR" sz="12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6C83F0D-6B03-E273-A155-577DD7D090C4}"/>
              </a:ext>
            </a:extLst>
          </p:cNvPr>
          <p:cNvSpPr txBox="1">
            <a:spLocks/>
          </p:cNvSpPr>
          <p:nvPr/>
        </p:nvSpPr>
        <p:spPr>
          <a:xfrm>
            <a:off x="6289866" y="1369057"/>
            <a:ext cx="5194998" cy="118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ko-KR" sz="1600" b="0" dirty="0"/>
              <a:t>Observation:</a:t>
            </a:r>
          </a:p>
          <a:p>
            <a:pPr lvl="1"/>
            <a:r>
              <a:rPr lang="en-US" altLang="ko-KR" sz="1600" b="0" dirty="0"/>
              <a:t>Higher N3 proportion in the female group</a:t>
            </a:r>
          </a:p>
          <a:p>
            <a:pPr lvl="1"/>
            <a:r>
              <a:rPr lang="en-US" altLang="ko-KR" sz="1600" b="0" dirty="0"/>
              <a:t>Age related trends persist during late sleep as well</a:t>
            </a:r>
          </a:p>
        </p:txBody>
      </p:sp>
    </p:spTree>
    <p:extLst>
      <p:ext uri="{BB962C8B-B14F-4D97-AF65-F5344CB8AC3E}">
        <p14:creationId xmlns:p14="http://schemas.microsoft.com/office/powerpoint/2010/main" val="85940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D86A-52C9-26FF-3BA8-1A7A81B2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people with blue and orange lines&#10;&#10;AI-generated content may be incorrect.">
            <a:extLst>
              <a:ext uri="{FF2B5EF4-FFF2-40B4-BE49-F238E27FC236}">
                <a16:creationId xmlns:a16="http://schemas.microsoft.com/office/drawing/2014/main" id="{E1E1D6DC-354D-C60E-E6BC-B5713E261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042" y="3065335"/>
            <a:ext cx="4895096" cy="30594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6B7C3B-35A3-047D-2D70-919533C4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FDC35-C79F-E22F-0B65-5848CC2BB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en-US" altLang="ko-KR" sz="2400" b="0" dirty="0"/>
              <a:t> Macrostructure change with Gender - 2</a:t>
            </a:r>
          </a:p>
          <a:p>
            <a:pPr lvl="1"/>
            <a:r>
              <a:rPr lang="en-US" altLang="ko-KR" sz="1600" b="0" dirty="0"/>
              <a:t>Age related trends in Sleep Macrostructure by Gender</a:t>
            </a:r>
          </a:p>
          <a:p>
            <a:pPr lvl="2"/>
            <a:r>
              <a:rPr lang="en-US" altLang="ko-KR" sz="1200" dirty="0"/>
              <a:t>The proportion of N3 is lower in the male group across all age groups</a:t>
            </a:r>
          </a:p>
          <a:p>
            <a:pPr lvl="2"/>
            <a:r>
              <a:rPr lang="en-US" altLang="ko-KR" sz="1200" dirty="0"/>
              <a:t>A consistent age related decline in N3 is observed</a:t>
            </a:r>
          </a:p>
          <a:p>
            <a:pPr lvl="2"/>
            <a:r>
              <a:rPr lang="en-US" altLang="ko-KR" sz="1200" dirty="0"/>
              <a:t>This decline becomes more pronounced in older age groups</a:t>
            </a:r>
          </a:p>
          <a:p>
            <a:pPr marL="914400" lvl="2" indent="0">
              <a:buNone/>
            </a:pPr>
            <a:endParaRPr lang="en-US" altLang="ko-KR" sz="1200" dirty="0"/>
          </a:p>
          <a:p>
            <a:pPr lvl="2"/>
            <a:endParaRPr lang="en-US" altLang="ko-KR" sz="12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E1FC14-24A2-7F0C-E10F-4B9BC75AA354}"/>
              </a:ext>
            </a:extLst>
          </p:cNvPr>
          <p:cNvSpPr txBox="1"/>
          <p:nvPr/>
        </p:nvSpPr>
        <p:spPr>
          <a:xfrm>
            <a:off x="5152389" y="3402568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PhysioNet - Early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64298B-C66D-C710-29E0-A3D49ECECB8F}"/>
              </a:ext>
            </a:extLst>
          </p:cNvPr>
          <p:cNvSpPr txBox="1"/>
          <p:nvPr/>
        </p:nvSpPr>
        <p:spPr>
          <a:xfrm>
            <a:off x="4253992" y="6232789"/>
            <a:ext cx="391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1"/>
                </a:solidFill>
              </a:rPr>
              <a:t>Age-Gender N3 Proportion Plot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-US" altLang="ko-KR" sz="1400" dirty="0">
                <a:solidFill>
                  <a:schemeClr val="accent1"/>
                </a:solidFill>
              </a:rPr>
              <a:t>(Early)</a:t>
            </a:r>
          </a:p>
          <a:p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81F6BA9-1CF6-96BE-6058-D7BA85156020}"/>
              </a:ext>
            </a:extLst>
          </p:cNvPr>
          <p:cNvSpPr txBox="1">
            <a:spLocks/>
          </p:cNvSpPr>
          <p:nvPr/>
        </p:nvSpPr>
        <p:spPr>
          <a:xfrm>
            <a:off x="6520192" y="1639063"/>
            <a:ext cx="5229848" cy="1188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ko-KR" sz="1600" b="0" dirty="0"/>
              <a:t>Observation:</a:t>
            </a:r>
          </a:p>
          <a:p>
            <a:pPr lvl="1"/>
            <a:r>
              <a:rPr lang="en-US" altLang="ko-KR" sz="1600" b="0" dirty="0"/>
              <a:t>N3 proportion decreases with age</a:t>
            </a:r>
          </a:p>
          <a:p>
            <a:pPr lvl="1"/>
            <a:r>
              <a:rPr lang="en-US" altLang="ko-KR" sz="1600" b="0" dirty="0"/>
              <a:t>Female Group shows a slightly higher N3 proportion compared to males</a:t>
            </a:r>
          </a:p>
        </p:txBody>
      </p:sp>
    </p:spTree>
    <p:extLst>
      <p:ext uri="{BB962C8B-B14F-4D97-AF65-F5344CB8AC3E}">
        <p14:creationId xmlns:p14="http://schemas.microsoft.com/office/powerpoint/2010/main" val="484161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2DCD-20B6-5EDE-87D9-062C3800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15A85-6A03-AF20-AC4D-0EFD4CE3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883"/>
            <a:ext cx="11386038" cy="496022"/>
          </a:xfrm>
          <a:noFill/>
          <a:ln w="76200">
            <a:noFill/>
          </a:ln>
        </p:spPr>
        <p:txBody>
          <a:bodyPr/>
          <a:lstStyle/>
          <a:p>
            <a:r>
              <a:rPr lang="en-US" altLang="ko-KR" sz="3200" dirty="0"/>
              <a:t>Sleep Macrostructure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955CC-B24B-46FB-A299-80E6ACD6B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54" y="1179552"/>
            <a:ext cx="11165046" cy="4837200"/>
          </a:xfrm>
        </p:spPr>
        <p:txBody>
          <a:bodyPr/>
          <a:lstStyle/>
          <a:p>
            <a:r>
              <a:rPr lang="en-US" altLang="ko-KR" sz="2400" b="0" dirty="0"/>
              <a:t> Sleep Macrostructure - Takeaways</a:t>
            </a:r>
            <a:endParaRPr lang="en-US" altLang="ko-KR" sz="1200" dirty="0"/>
          </a:p>
          <a:p>
            <a:pPr lvl="2"/>
            <a:endParaRPr lang="en-US" altLang="ko-KR" sz="1200" b="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0C0B725-32D0-A2A1-FABB-A4951FB3E9F7}"/>
              </a:ext>
            </a:extLst>
          </p:cNvPr>
          <p:cNvSpPr txBox="1">
            <a:spLocks/>
          </p:cNvSpPr>
          <p:nvPr/>
        </p:nvSpPr>
        <p:spPr>
          <a:xfrm>
            <a:off x="463170" y="1746422"/>
            <a:ext cx="11489276" cy="44897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defRPr sz="28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Calibri Light" panose="020F030202020403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600" b="0" dirty="0"/>
              <a:t>Higher N3 proportion during early sleep, with a tendency for REM proportion to increase during late sleep</a:t>
            </a:r>
            <a:endParaRPr lang="en-US" altLang="ko-KR" sz="1600" b="0" dirty="0"/>
          </a:p>
          <a:p>
            <a:pPr lvl="1"/>
            <a:endParaRPr lang="en-US" altLang="ko-KR" sz="1600" b="0" dirty="0"/>
          </a:p>
          <a:p>
            <a:pPr lvl="1"/>
            <a:r>
              <a:rPr lang="en-US" sz="1600" b="0" dirty="0"/>
              <a:t>Age – the strongest demographic factor influencing macrostructure</a:t>
            </a:r>
            <a:r>
              <a:rPr lang="en-US" altLang="ko-KR" sz="1600" b="0" dirty="0"/>
              <a:t>	</a:t>
            </a:r>
          </a:p>
          <a:p>
            <a:pPr marL="457200" lvl="1" indent="0">
              <a:buNone/>
            </a:pPr>
            <a:r>
              <a:rPr lang="en-US" sz="1600" b="0" dirty="0"/>
              <a:t>With increasing age</a:t>
            </a:r>
            <a:r>
              <a:rPr lang="en-US" altLang="ko-KR" sz="1600" b="0" dirty="0"/>
              <a:t>:</a:t>
            </a:r>
          </a:p>
          <a:p>
            <a:pPr marL="457200" lvl="1" indent="0">
              <a:buNone/>
            </a:pPr>
            <a:r>
              <a:rPr lang="en-US" sz="1600" b="0" dirty="0"/>
              <a:t>	- Decrease in deep NREM sleep (N3)</a:t>
            </a:r>
          </a:p>
          <a:p>
            <a:pPr marL="457200" lvl="1" indent="0">
              <a:buNone/>
            </a:pPr>
            <a:r>
              <a:rPr lang="en-US" altLang="ko-KR" sz="1600" b="0" dirty="0"/>
              <a:t>	- </a:t>
            </a:r>
            <a:r>
              <a:rPr lang="en-US" sz="1600" b="0" dirty="0"/>
              <a:t>Increase in sleep fragmentation</a:t>
            </a:r>
          </a:p>
          <a:p>
            <a:pPr marL="457200" lvl="1" indent="0">
              <a:buNone/>
            </a:pPr>
            <a:endParaRPr lang="en-US" altLang="ko-KR" sz="1600" b="0" dirty="0"/>
          </a:p>
          <a:p>
            <a:pPr lvl="1"/>
            <a:r>
              <a:rPr lang="en-US" sz="1600" b="0" dirty="0"/>
              <a:t>Gender – smaller effect compared to age</a:t>
            </a:r>
            <a:endParaRPr lang="en-US" altLang="ko-KR" sz="1600" b="0" dirty="0"/>
          </a:p>
          <a:p>
            <a:pPr marL="457200" lvl="1" indent="0">
              <a:buNone/>
            </a:pPr>
            <a:r>
              <a:rPr lang="en-US" altLang="ko-KR" sz="1600" b="0" dirty="0"/>
              <a:t>	 - </a:t>
            </a:r>
            <a:r>
              <a:rPr lang="en-US" sz="1600" b="0" dirty="0"/>
              <a:t>Lower N3 proportion in the male group across all age ranges</a:t>
            </a:r>
          </a:p>
          <a:p>
            <a:pPr marL="457200" lvl="1" indent="0">
              <a:buNone/>
            </a:pPr>
            <a:r>
              <a:rPr lang="en-US" sz="1600" b="0" dirty="0"/>
              <a:t>	-  Differences become more pronounced in older adults</a:t>
            </a:r>
            <a:endParaRPr lang="en-US" altLang="ko-KR" sz="1000" b="0" dirty="0"/>
          </a:p>
          <a:p>
            <a:pPr lvl="2"/>
            <a:endParaRPr lang="en-US" altLang="ko-KR" sz="1200" b="0" dirty="0"/>
          </a:p>
          <a:p>
            <a:pPr marL="457200" lvl="1" indent="0">
              <a:buNone/>
            </a:pPr>
            <a:endParaRPr lang="en-US" altLang="ko-KR" sz="1600" b="0" dirty="0"/>
          </a:p>
          <a:p>
            <a:pPr lvl="1"/>
            <a:endParaRPr lang="en-US" altLang="ko-KR" sz="1600" b="0" dirty="0"/>
          </a:p>
          <a:p>
            <a:pPr lvl="1"/>
            <a:endParaRPr lang="en-US" altLang="ko-KR" sz="1600" b="0" dirty="0"/>
          </a:p>
        </p:txBody>
      </p:sp>
    </p:spTree>
    <p:extLst>
      <p:ext uri="{BB962C8B-B14F-4D97-AF65-F5344CB8AC3E}">
        <p14:creationId xmlns:p14="http://schemas.microsoft.com/office/powerpoint/2010/main" val="256927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Calibri"/>
        <a:ea typeface="Calibri"/>
        <a:cs typeface=""/>
      </a:majorFont>
      <a:minorFont>
        <a:latin typeface="Calibri Light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d1888a-ce06-4b6f-83ce-942b0d0fc4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3631CBB49FBE04388B7B42332C1650F" ma:contentTypeVersion="14" ma:contentTypeDescription="새 문서를 만듭니다." ma:contentTypeScope="" ma:versionID="4dac5650a5f34ae396e344e7ca66d165">
  <xsd:schema xmlns:xsd="http://www.w3.org/2001/XMLSchema" xmlns:xs="http://www.w3.org/2001/XMLSchema" xmlns:p="http://schemas.microsoft.com/office/2006/metadata/properties" xmlns:ns3="97d1888a-ce06-4b6f-83ce-942b0d0fc4fb" targetNamespace="http://schemas.microsoft.com/office/2006/metadata/properties" ma:root="true" ma:fieldsID="c50a6e47cf052a537589593677856737" ns3:_="">
    <xsd:import namespace="97d1888a-ce06-4b6f-83ce-942b0d0fc4f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d1888a-ce06-4b6f-83ce-942b0d0fc4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1377E9-DE3C-4F1C-9834-3E1ABB65E02D}">
  <ds:schemaRefs>
    <ds:schemaRef ds:uri="97d1888a-ce06-4b6f-83ce-942b0d0fc4f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66DC07-1313-4968-885C-FA37B9A052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42D376-3516-4799-9CEE-A39986EF5BC4}">
  <ds:schemaRefs>
    <ds:schemaRef ds:uri="97d1888a-ce06-4b6f-83ce-942b0d0fc4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3325</TotalTime>
  <Words>632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나눔고딕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Sleep Macrostructure Analysis</vt:lpstr>
      <vt:lpstr>Sleep Macrostructure</vt:lpstr>
      <vt:lpstr>Sleep Macrostructure</vt:lpstr>
      <vt:lpstr>Sleep Macrostructure</vt:lpstr>
      <vt:lpstr>Sleep Macrostructure</vt:lpstr>
      <vt:lpstr>Sleep Macrostructure</vt:lpstr>
      <vt:lpstr>Sleep Macrostructure</vt:lpstr>
      <vt:lpstr>Sleep Macrostructure</vt:lpstr>
      <vt:lpstr>Sleep Macrostructure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JY Kim</dc:creator>
  <cp:lastModifiedBy>DongJae Seo</cp:lastModifiedBy>
  <cp:revision>13</cp:revision>
  <dcterms:created xsi:type="dcterms:W3CDTF">2023-07-14T10:59:23Z</dcterms:created>
  <dcterms:modified xsi:type="dcterms:W3CDTF">2025-12-25T08:03:16Z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0x010100A3631CBB49FBE04388B7B42332C1650F</vt:lpwstr>
  </property>
</Properties>
</file>